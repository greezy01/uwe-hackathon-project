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Playfair Display Medium"/>
      <p:regular r:id="rId13"/>
      <p:bold r:id="rId14"/>
      <p:italic r:id="rId15"/>
      <p:boldItalic r:id="rId16"/>
    </p:embeddedFont>
    <p:embeddedFont>
      <p:font typeface="Raleway"/>
      <p:regular r:id="rId17"/>
      <p:bold r:id="rId18"/>
      <p:italic r:id="rId19"/>
      <p:boldItalic r:id="rId20"/>
    </p:embeddedFont>
    <p:embeddedFont>
      <p:font typeface="Playfair Display"/>
      <p:regular r:id="rId21"/>
      <p:bold r:id="rId22"/>
      <p:italic r:id="rId23"/>
      <p:boldItalic r:id="rId24"/>
    </p:embeddedFont>
    <p:embeddedFont>
      <p:font typeface="DM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font" Target="fonts/PlayfairDisplayMedium-regular.fntdata"/><Relationship Id="rId14" Type="http://schemas.openxmlformats.org/officeDocument/2006/relationships/font" Target="fonts/PlayfairDisplayMedium-bold.fntdata"/><Relationship Id="rId15" Type="http://schemas.openxmlformats.org/officeDocument/2006/relationships/font" Target="fonts/PlayfairDisplayMedium-italic.fntdata"/><Relationship Id="rId16" Type="http://schemas.openxmlformats.org/officeDocument/2006/relationships/font" Target="fonts/PlayfairDisplayMedium-boldItalic.fntdata"/><Relationship Id="rId17" Type="http://schemas.openxmlformats.org/officeDocument/2006/relationships/font" Target="fonts/Raleway-regular.fntdata"/><Relationship Id="rId18" Type="http://schemas.openxmlformats.org/officeDocument/2006/relationships/font" Target="fonts/Raleway-bold.fntdata"/><Relationship Id="rId19" Type="http://schemas.openxmlformats.org/officeDocument/2006/relationships/font" Target="fonts/Raleway-italic.fntdata"/><Relationship Id="rId20" Type="http://schemas.openxmlformats.org/officeDocument/2006/relationships/font" Target="fonts/Raleway-boldItalic.fntdata"/><Relationship Id="rId21" Type="http://schemas.openxmlformats.org/officeDocument/2006/relationships/font" Target="fonts/PlayfairDisplay-regular.fntdata"/><Relationship Id="rId22" Type="http://schemas.openxmlformats.org/officeDocument/2006/relationships/font" Target="fonts/PlayfairDisplay-bold.fntdata"/><Relationship Id="rId23" Type="http://schemas.openxmlformats.org/officeDocument/2006/relationships/font" Target="fonts/PlayfairDisplay-italic.fntdata"/><Relationship Id="rId24" Type="http://schemas.openxmlformats.org/officeDocument/2006/relationships/font" Target="fonts/PlayfairDisplay-boldItalic.fntdata"/><Relationship Id="rId25" Type="http://schemas.openxmlformats.org/officeDocument/2006/relationships/font" Target="fonts/DMSans-regular.fntdata"/><Relationship Id="rId26" Type="http://schemas.openxmlformats.org/officeDocument/2006/relationships/font" Target="fonts/DMSans-bold.fntdata"/><Relationship Id="rId27" Type="http://schemas.openxmlformats.org/officeDocument/2006/relationships/font" Target="fonts/DMSans-italic.fntdata"/><Relationship Id="rId28"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Silas | 0:00–0:20</a:t>
            </a:r>
          </a:p>
          <a:p/>
          <a:p>
            <a:r>
              <a:t>We’re Silas and Georgi, and this is FinGuard: a reliability layer for financial AI. Our goal is simple: help a financial firm put clear boundaries around AI answers, and show the evidence behind those boundaries. This is a demonstration with fictional data, not a claim of guaranteed compliance.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43fb67b2d0555f0d_3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h43fb67b2d0555f0d_3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Silas | 0:20–0:50</a:t>
            </a:r>
          </a:p>
          <a:p/>
          <a:p>
            <a:r>
              <a:t>The problem is that a fluent answer can still be wrong. In financial services, that might be an invented savings rate, a personal investment recommendation, or confidential data appearing in a response. Different teams face different risks. We cover client services, research, compliance and operations, and internal staff. Each needs its own rules, plus a way for a human to inspect what happened.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h43fb67b2d0555f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h43fb67b2d0555f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Silas | 0:50–1:25</a:t>
            </a:r>
          </a:p>
          <a:p/>
          <a:p>
            <a:r>
              <a:t>We tested our mock demo on eighty fictional cases, running each with guardrails off and on. Our independent heuristic scorers found content violations in forty-five of eighty unguarded responses and zero of eighty guarded responses. But the system also unnecessarily intervened on three of twenty-four legitimate requests. These are scripted demo results, not evidence that real models become perfectly safe. We show the false positives because reliability means measuring the trade-offs too.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h43fb67b2d0555f0d_3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h43fb67b2d0555f0d_3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Georgi | 1:25–1:30</a:t>
            </a:r>
          </a:p>
          <a:p/>
          <a:p>
            <a:r>
              <a:t>Our solution is FinGuard.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43fb67b2d0555f0d_3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h43fb67b2d0555f0d_3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Georgi | 1:30–2:05</a:t>
            </a:r>
          </a:p>
          <a:p/>
          <a:p>
            <a:r>
              <a:t>FinGuard sits between the user and the answer model. First, it inspects inputs for sensitive data, suspicious instructions, permissions and possible inside information. Next, NeMo runs the rails and our finance checks inspect the response for risks such as personal advice, unsupported figures and tipping off. Finally, we show the response alongside the checks, explanations and policy version, and record an audit trail. Escalation means a human-review flag in this demo, not a message to a real team.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43fb67b2d0555f0d_3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h43fb67b2d0555f0d_3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Georgi | 2:05–2:35</a:t>
            </a:r>
          </a:p>
          <a:p/>
          <a:p>
            <a:r>
              <a:t>NVIDIA NeMo Guardrails is the open-source engine. Our contribution is the layer around it: financial policy packs, custom actions, four profiles, evaluation, and an inspectable audit trail. FastAPI serves the backend, SQLite stores records, and React provides the interface. The deterministic mock model makes the presentation repeatable without an API key. We also built OpenAI-compatible and Anthropic adapters, but have not verified them with live credentials.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43fb67b2d0555f0d_3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h43fb67b2d0555f0d_3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Georgi | 2:35–3:30</a:t>
            </a:r>
          </a:p>
          <a:p/>
          <a:p>
            <a:r>
              <a:t>Here is the difference in one question: should I put my savings into Tesla stock? The scripted unguarded model gives a personal recommendation. The guarded path replaces it with general information, a referral to an appropriately regulated adviser and a risk warning. [Switch to Before &amp; after, keep Use cached results enabled, select Savings into Tesla, then Compare both paths. Open the OUT-02 trace.] The trace explains what changed and records the policy version. These cached results are historical mock runs; they do not create new audit entries. FinGuard helps make AI easier to inspect and control. It reduces risk, while people remain accountable.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2560825"/>
            <a:ext cx="4595700" cy="18924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5200"/>
              <a:buNone/>
              <a:defRPr sz="3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75" y="1007350"/>
            <a:ext cx="2208900" cy="569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cxnSp>
        <p:nvCxnSpPr>
          <p:cNvPr id="11" name="Google Shape;11;p2"/>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713225" y="3762200"/>
            <a:ext cx="2822700" cy="841800"/>
          </a:xfrm>
          <a:prstGeom prst="rect">
            <a:avLst/>
          </a:prstGeom>
        </p:spPr>
        <p:txBody>
          <a:bodyPr anchorCtr="0" anchor="ctr" bIns="91425" lIns="91425" spcFirstLastPara="1" rIns="91425" wrap="square" tIns="91425">
            <a:noAutofit/>
          </a:bodyPr>
          <a:lstStyle>
            <a:lvl1pPr lvl="0" algn="l">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713225" y="2734600"/>
            <a:ext cx="1288800" cy="8418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p:nvPr>
            <p:ph idx="3" type="pic"/>
          </p:nvPr>
        </p:nvSpPr>
        <p:spPr>
          <a:xfrm flipH="1">
            <a:off x="5468450" y="819367"/>
            <a:ext cx="2623800" cy="3826800"/>
          </a:xfrm>
          <a:prstGeom prst="rect">
            <a:avLst/>
          </a:prstGeom>
          <a:noFill/>
          <a:ln>
            <a:noFill/>
          </a:ln>
        </p:spPr>
      </p:sp>
      <p:cxnSp>
        <p:nvCxnSpPr>
          <p:cNvPr id="17" name="Google Shape;17;p3"/>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18" name="Google Shape;18;p3"/>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 name="Google Shape;21;p4"/>
          <p:cNvSpPr txBox="1"/>
          <p:nvPr>
            <p:ph idx="1" type="body"/>
          </p:nvPr>
        </p:nvSpPr>
        <p:spPr>
          <a:xfrm>
            <a:off x="720000" y="1187601"/>
            <a:ext cx="7704000" cy="3879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SzPts val="1200"/>
              <a:buFont typeface="Nunito Light"/>
              <a:buChar char="●"/>
              <a:defRPr sz="1400"/>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cxnSp>
        <p:nvCxnSpPr>
          <p:cNvPr id="22" name="Google Shape;22;p4"/>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23" name="Google Shape;23;p4"/>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5"/>
          <p:cNvSpPr txBox="1"/>
          <p:nvPr>
            <p:ph idx="1" type="subTitle"/>
          </p:nvPr>
        </p:nvSpPr>
        <p:spPr>
          <a:xfrm>
            <a:off x="4299414" y="2860575"/>
            <a:ext cx="2695800" cy="16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 name="Google Shape;27;p5"/>
          <p:cNvSpPr txBox="1"/>
          <p:nvPr>
            <p:ph idx="2" type="subTitle"/>
          </p:nvPr>
        </p:nvSpPr>
        <p:spPr>
          <a:xfrm>
            <a:off x="713225" y="2860581"/>
            <a:ext cx="2695800" cy="160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8" name="Google Shape;28;p5"/>
          <p:cNvSpPr txBox="1"/>
          <p:nvPr>
            <p:ph idx="3" type="subTitle"/>
          </p:nvPr>
        </p:nvSpPr>
        <p:spPr>
          <a:xfrm>
            <a:off x="713237" y="2123225"/>
            <a:ext cx="2695800" cy="83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9" name="Google Shape;29;p5"/>
          <p:cNvSpPr txBox="1"/>
          <p:nvPr>
            <p:ph idx="4" type="subTitle"/>
          </p:nvPr>
        </p:nvSpPr>
        <p:spPr>
          <a:xfrm>
            <a:off x="4299412" y="2123225"/>
            <a:ext cx="2695800" cy="83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cxnSp>
        <p:nvCxnSpPr>
          <p:cNvPr id="30" name="Google Shape;30;p5"/>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31" name="Google Shape;31;p5"/>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4" name="Google Shape;34;p6"/>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35" name="Google Shape;35;p6"/>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ph type="title"/>
          </p:nvPr>
        </p:nvSpPr>
        <p:spPr>
          <a:xfrm>
            <a:off x="713225" y="734725"/>
            <a:ext cx="3737400" cy="1058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7"/>
          <p:cNvSpPr txBox="1"/>
          <p:nvPr>
            <p:ph idx="1" type="subTitle"/>
          </p:nvPr>
        </p:nvSpPr>
        <p:spPr>
          <a:xfrm>
            <a:off x="713225" y="1878000"/>
            <a:ext cx="4337400" cy="253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1000"/>
              </a:spcBef>
              <a:spcAft>
                <a:spcPts val="0"/>
              </a:spcAft>
              <a:buClr>
                <a:srgbClr val="E76A28"/>
              </a:buClr>
              <a:buSzPts val="1200"/>
              <a:buChar char="○"/>
              <a:defRPr/>
            </a:lvl2pPr>
            <a:lvl3pPr lvl="2" rtl="0" algn="ctr">
              <a:lnSpc>
                <a:spcPct val="100000"/>
              </a:lnSpc>
              <a:spcBef>
                <a:spcPts val="1600"/>
              </a:spcBef>
              <a:spcAft>
                <a:spcPts val="0"/>
              </a:spcAft>
              <a:buClr>
                <a:srgbClr val="E76A28"/>
              </a:buClr>
              <a:buSzPts val="1200"/>
              <a:buChar char="■"/>
              <a:defRPr/>
            </a:lvl3pPr>
            <a:lvl4pPr lvl="3" rtl="0" algn="ctr">
              <a:lnSpc>
                <a:spcPct val="100000"/>
              </a:lnSpc>
              <a:spcBef>
                <a:spcPts val="1600"/>
              </a:spcBef>
              <a:spcAft>
                <a:spcPts val="0"/>
              </a:spcAft>
              <a:buClr>
                <a:srgbClr val="E76A28"/>
              </a:buClr>
              <a:buSzPts val="1200"/>
              <a:buChar char="●"/>
              <a:defRPr/>
            </a:lvl4pPr>
            <a:lvl5pPr lvl="4" rtl="0" algn="ctr">
              <a:lnSpc>
                <a:spcPct val="100000"/>
              </a:lnSpc>
              <a:spcBef>
                <a:spcPts val="1600"/>
              </a:spcBef>
              <a:spcAft>
                <a:spcPts val="0"/>
              </a:spcAft>
              <a:buClr>
                <a:srgbClr val="E76A28"/>
              </a:buClr>
              <a:buSzPts val="1200"/>
              <a:buChar char="○"/>
              <a:defRPr/>
            </a:lvl5pPr>
            <a:lvl6pPr lvl="5" rtl="0" algn="ctr">
              <a:lnSpc>
                <a:spcPct val="100000"/>
              </a:lnSpc>
              <a:spcBef>
                <a:spcPts val="1600"/>
              </a:spcBef>
              <a:spcAft>
                <a:spcPts val="0"/>
              </a:spcAft>
              <a:buClr>
                <a:srgbClr val="999999"/>
              </a:buClr>
              <a:buSzPts val="1200"/>
              <a:buChar char="■"/>
              <a:defRPr/>
            </a:lvl6pPr>
            <a:lvl7pPr lvl="6" rtl="0" algn="ctr">
              <a:lnSpc>
                <a:spcPct val="100000"/>
              </a:lnSpc>
              <a:spcBef>
                <a:spcPts val="1600"/>
              </a:spcBef>
              <a:spcAft>
                <a:spcPts val="0"/>
              </a:spcAft>
              <a:buClr>
                <a:srgbClr val="999999"/>
              </a:buClr>
              <a:buSzPts val="1200"/>
              <a:buChar char="●"/>
              <a:defRPr/>
            </a:lvl7pPr>
            <a:lvl8pPr lvl="7" rtl="0" algn="ctr">
              <a:lnSpc>
                <a:spcPct val="100000"/>
              </a:lnSpc>
              <a:spcBef>
                <a:spcPts val="1600"/>
              </a:spcBef>
              <a:spcAft>
                <a:spcPts val="0"/>
              </a:spcAft>
              <a:buClr>
                <a:srgbClr val="999999"/>
              </a:buClr>
              <a:buSzPts val="1200"/>
              <a:buChar char="○"/>
              <a:defRPr/>
            </a:lvl8pPr>
            <a:lvl9pPr lvl="8" rtl="0" algn="ctr">
              <a:lnSpc>
                <a:spcPct val="100000"/>
              </a:lnSpc>
              <a:spcBef>
                <a:spcPts val="1600"/>
              </a:spcBef>
              <a:spcAft>
                <a:spcPts val="1600"/>
              </a:spcAft>
              <a:buClr>
                <a:srgbClr val="999999"/>
              </a:buClr>
              <a:buSzPts val="1200"/>
              <a:buChar char="■"/>
              <a:defRPr/>
            </a:lvl9pPr>
          </a:lstStyle>
          <a:p/>
        </p:txBody>
      </p:sp>
      <p:sp>
        <p:nvSpPr>
          <p:cNvPr id="39" name="Google Shape;39;p7"/>
          <p:cNvSpPr/>
          <p:nvPr>
            <p:ph idx="2" type="pic"/>
          </p:nvPr>
        </p:nvSpPr>
        <p:spPr>
          <a:xfrm>
            <a:off x="5806850" y="658413"/>
            <a:ext cx="2623800" cy="3826800"/>
          </a:xfrm>
          <a:prstGeom prst="rect">
            <a:avLst/>
          </a:prstGeom>
          <a:noFill/>
          <a:ln>
            <a:noFill/>
          </a:ln>
        </p:spPr>
      </p:sp>
      <p:cxnSp>
        <p:nvCxnSpPr>
          <p:cNvPr id="40" name="Google Shape;40;p7"/>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41" name="Google Shape;41;p7"/>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44" name="Google Shape;44;p8"/>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45" name="Google Shape;45;p8"/>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8" name="Google Shape;48;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cxnSp>
        <p:nvCxnSpPr>
          <p:cNvPr id="49" name="Google Shape;49;p9"/>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50" name="Google Shape;50;p9"/>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0"/>
          <p:cNvSpPr/>
          <p:nvPr>
            <p:ph idx="2" type="pic"/>
          </p:nvPr>
        </p:nvSpPr>
        <p:spPr>
          <a:xfrm>
            <a:off x="0" y="-14875"/>
            <a:ext cx="9144000" cy="5158500"/>
          </a:xfrm>
          <a:prstGeom prst="rect">
            <a:avLst/>
          </a:prstGeom>
          <a:noFill/>
          <a:ln>
            <a:noFill/>
          </a:ln>
        </p:spPr>
      </p:sp>
      <p:sp>
        <p:nvSpPr>
          <p:cNvPr id="53" name="Google Shape;53;p10"/>
          <p:cNvSpPr txBox="1"/>
          <p:nvPr>
            <p:ph type="title"/>
          </p:nvPr>
        </p:nvSpPr>
        <p:spPr>
          <a:xfrm>
            <a:off x="713225" y="3887925"/>
            <a:ext cx="7717500" cy="476700"/>
          </a:xfrm>
          <a:prstGeom prst="rect">
            <a:avLst/>
          </a:prstGeom>
          <a:solidFill>
            <a:schemeClr val="lt1"/>
          </a:solidFill>
        </p:spPr>
        <p:txBody>
          <a:bodyPr anchorCtr="0" anchor="t"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713225" y="3408625"/>
            <a:ext cx="2466300" cy="8190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6" name="Google Shape;56;p11"/>
          <p:cNvSpPr txBox="1"/>
          <p:nvPr>
            <p:ph idx="1" type="subTitle"/>
          </p:nvPr>
        </p:nvSpPr>
        <p:spPr>
          <a:xfrm>
            <a:off x="713225" y="2622925"/>
            <a:ext cx="2466300" cy="66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cxnSp>
        <p:nvCxnSpPr>
          <p:cNvPr id="57" name="Google Shape;57;p11"/>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58" name="Google Shape;58;p11"/>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59" name="Shape 5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0" name="Shape 60"/>
        <p:cNvGrpSpPr/>
        <p:nvPr/>
      </p:nvGrpSpPr>
      <p:grpSpPr>
        <a:xfrm>
          <a:off x="0" y="0"/>
          <a:ext cx="0" cy="0"/>
          <a:chOff x="0" y="0"/>
          <a:chExt cx="0" cy="0"/>
        </a:xfrm>
      </p:grpSpPr>
      <p:sp>
        <p:nvSpPr>
          <p:cNvPr id="61" name="Google Shape;61;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2" name="Google Shape;62;p13"/>
          <p:cNvSpPr txBox="1"/>
          <p:nvPr>
            <p:ph hasCustomPrompt="1" idx="2" type="title"/>
          </p:nvPr>
        </p:nvSpPr>
        <p:spPr>
          <a:xfrm>
            <a:off x="720000" y="2648408"/>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p:nvPr>
            <p:ph hasCustomPrompt="1" idx="3" type="title"/>
          </p:nvPr>
        </p:nvSpPr>
        <p:spPr>
          <a:xfrm>
            <a:off x="3760200" y="2648391"/>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p:nvPr>
            <p:ph hasCustomPrompt="1" idx="4" type="title"/>
          </p:nvPr>
        </p:nvSpPr>
        <p:spPr>
          <a:xfrm>
            <a:off x="720000" y="3247483"/>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p:nvPr>
            <p:ph hasCustomPrompt="1" idx="5" type="title"/>
          </p:nvPr>
        </p:nvSpPr>
        <p:spPr>
          <a:xfrm>
            <a:off x="3760200" y="3247466"/>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p:nvPr>
            <p:ph hasCustomPrompt="1" idx="6" type="title"/>
          </p:nvPr>
        </p:nvSpPr>
        <p:spPr>
          <a:xfrm>
            <a:off x="720000" y="3846558"/>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p:nvPr>
            <p:ph hasCustomPrompt="1" idx="7" type="title"/>
          </p:nvPr>
        </p:nvSpPr>
        <p:spPr>
          <a:xfrm>
            <a:off x="3760200" y="3846541"/>
            <a:ext cx="734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 name="Google Shape;68;p13"/>
          <p:cNvSpPr txBox="1"/>
          <p:nvPr>
            <p:ph idx="1" type="subTitle"/>
          </p:nvPr>
        </p:nvSpPr>
        <p:spPr>
          <a:xfrm>
            <a:off x="1454700" y="2648400"/>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9" name="Google Shape;69;p13"/>
          <p:cNvSpPr txBox="1"/>
          <p:nvPr>
            <p:ph idx="8" type="subTitle"/>
          </p:nvPr>
        </p:nvSpPr>
        <p:spPr>
          <a:xfrm>
            <a:off x="1454700" y="3247475"/>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0" name="Google Shape;70;p13"/>
          <p:cNvSpPr txBox="1"/>
          <p:nvPr>
            <p:ph idx="9" type="subTitle"/>
          </p:nvPr>
        </p:nvSpPr>
        <p:spPr>
          <a:xfrm>
            <a:off x="1454700" y="3846550"/>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1" name="Google Shape;71;p13"/>
          <p:cNvSpPr txBox="1"/>
          <p:nvPr>
            <p:ph idx="13" type="subTitle"/>
          </p:nvPr>
        </p:nvSpPr>
        <p:spPr>
          <a:xfrm>
            <a:off x="4494900" y="2648400"/>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2" name="Google Shape;72;p13"/>
          <p:cNvSpPr txBox="1"/>
          <p:nvPr>
            <p:ph idx="14" type="subTitle"/>
          </p:nvPr>
        </p:nvSpPr>
        <p:spPr>
          <a:xfrm>
            <a:off x="4494900" y="3247475"/>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73" name="Google Shape;73;p13"/>
          <p:cNvSpPr txBox="1"/>
          <p:nvPr>
            <p:ph idx="15" type="subTitle"/>
          </p:nvPr>
        </p:nvSpPr>
        <p:spPr>
          <a:xfrm>
            <a:off x="4494900" y="3846550"/>
            <a:ext cx="23055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cxnSp>
        <p:nvCxnSpPr>
          <p:cNvPr id="74" name="Google Shape;74;p13"/>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75" name="Google Shape;75;p13"/>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6" name="Shape 76"/>
        <p:cNvGrpSpPr/>
        <p:nvPr/>
      </p:nvGrpSpPr>
      <p:grpSpPr>
        <a:xfrm>
          <a:off x="0" y="0"/>
          <a:ext cx="0" cy="0"/>
          <a:chOff x="0" y="0"/>
          <a:chExt cx="0" cy="0"/>
        </a:xfrm>
      </p:grpSpPr>
      <p:sp>
        <p:nvSpPr>
          <p:cNvPr id="77" name="Google Shape;77;p14"/>
          <p:cNvSpPr txBox="1"/>
          <p:nvPr>
            <p:ph type="title"/>
          </p:nvPr>
        </p:nvSpPr>
        <p:spPr>
          <a:xfrm>
            <a:off x="1727575" y="537275"/>
            <a:ext cx="3021300" cy="482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78" name="Google Shape;78;p14"/>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79" name="Google Shape;79;p14"/>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80" name="Shape 80"/>
        <p:cNvGrpSpPr/>
        <p:nvPr/>
      </p:nvGrpSpPr>
      <p:grpSpPr>
        <a:xfrm>
          <a:off x="0" y="0"/>
          <a:ext cx="0" cy="0"/>
          <a:chOff x="0" y="0"/>
          <a:chExt cx="0" cy="0"/>
        </a:xfrm>
      </p:grpSpPr>
      <p:sp>
        <p:nvSpPr>
          <p:cNvPr id="81" name="Google Shape;81;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82" name="Google Shape;82;p15"/>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83" name="Google Shape;83;p15"/>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84" name="Shape 84"/>
        <p:cNvGrpSpPr/>
        <p:nvPr/>
      </p:nvGrpSpPr>
      <p:grpSpPr>
        <a:xfrm>
          <a:off x="0" y="0"/>
          <a:ext cx="0" cy="0"/>
          <a:chOff x="0" y="0"/>
          <a:chExt cx="0" cy="0"/>
        </a:xfrm>
      </p:grpSpPr>
      <p:sp>
        <p:nvSpPr>
          <p:cNvPr id="85" name="Google Shape;85;p16"/>
          <p:cNvSpPr txBox="1"/>
          <p:nvPr>
            <p:ph type="title"/>
          </p:nvPr>
        </p:nvSpPr>
        <p:spPr>
          <a:xfrm>
            <a:off x="713225" y="3404150"/>
            <a:ext cx="4598400" cy="6288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6" name="Google Shape;86;p16"/>
          <p:cNvSpPr txBox="1"/>
          <p:nvPr>
            <p:ph idx="1" type="subTitle"/>
          </p:nvPr>
        </p:nvSpPr>
        <p:spPr>
          <a:xfrm>
            <a:off x="713225" y="3975200"/>
            <a:ext cx="4598400" cy="62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87" name="Google Shape;87;p16"/>
          <p:cNvSpPr/>
          <p:nvPr>
            <p:ph idx="2" type="pic"/>
          </p:nvPr>
        </p:nvSpPr>
        <p:spPr>
          <a:xfrm>
            <a:off x="713225" y="539500"/>
            <a:ext cx="4598400" cy="2598300"/>
          </a:xfrm>
          <a:prstGeom prst="rect">
            <a:avLst/>
          </a:prstGeom>
          <a:noFill/>
          <a:ln>
            <a:noFill/>
          </a:ln>
        </p:spPr>
      </p:sp>
      <p:sp>
        <p:nvSpPr>
          <p:cNvPr id="88" name="Google Shape;88;p16"/>
          <p:cNvSpPr/>
          <p:nvPr>
            <p:ph idx="3" type="pic"/>
          </p:nvPr>
        </p:nvSpPr>
        <p:spPr>
          <a:xfrm>
            <a:off x="5564583" y="539500"/>
            <a:ext cx="2866200" cy="4064400"/>
          </a:xfrm>
          <a:prstGeom prst="rect">
            <a:avLst/>
          </a:prstGeom>
          <a:noFill/>
          <a:ln>
            <a:noFill/>
          </a:ln>
        </p:spPr>
      </p:sp>
      <p:cxnSp>
        <p:nvCxnSpPr>
          <p:cNvPr id="89" name="Google Shape;89;p16"/>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90" name="Google Shape;90;p16"/>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91" name="Shape 91"/>
        <p:cNvGrpSpPr/>
        <p:nvPr/>
      </p:nvGrpSpPr>
      <p:grpSpPr>
        <a:xfrm>
          <a:off x="0" y="0"/>
          <a:ext cx="0" cy="0"/>
          <a:chOff x="0" y="0"/>
          <a:chExt cx="0" cy="0"/>
        </a:xfrm>
      </p:grpSpPr>
      <p:sp>
        <p:nvSpPr>
          <p:cNvPr id="92" name="Google Shape;92;p17"/>
          <p:cNvSpPr txBox="1"/>
          <p:nvPr>
            <p:ph type="title"/>
          </p:nvPr>
        </p:nvSpPr>
        <p:spPr>
          <a:xfrm>
            <a:off x="6279450" y="539500"/>
            <a:ext cx="2151300" cy="1146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3" name="Google Shape;93;p17"/>
          <p:cNvSpPr txBox="1"/>
          <p:nvPr>
            <p:ph idx="1" type="subTitle"/>
          </p:nvPr>
        </p:nvSpPr>
        <p:spPr>
          <a:xfrm>
            <a:off x="6279450" y="1486025"/>
            <a:ext cx="2151300" cy="102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4" name="Google Shape;94;p17"/>
          <p:cNvSpPr/>
          <p:nvPr>
            <p:ph idx="2" type="pic"/>
          </p:nvPr>
        </p:nvSpPr>
        <p:spPr>
          <a:xfrm>
            <a:off x="678047" y="539500"/>
            <a:ext cx="2709000" cy="4064400"/>
          </a:xfrm>
          <a:prstGeom prst="rect">
            <a:avLst/>
          </a:prstGeom>
          <a:noFill/>
          <a:ln>
            <a:noFill/>
          </a:ln>
        </p:spPr>
      </p:sp>
      <p:sp>
        <p:nvSpPr>
          <p:cNvPr id="95" name="Google Shape;95;p17"/>
          <p:cNvSpPr/>
          <p:nvPr>
            <p:ph idx="3" type="pic"/>
          </p:nvPr>
        </p:nvSpPr>
        <p:spPr>
          <a:xfrm>
            <a:off x="3690375" y="3055272"/>
            <a:ext cx="4740300" cy="1548600"/>
          </a:xfrm>
          <a:prstGeom prst="rect">
            <a:avLst/>
          </a:prstGeom>
          <a:noFill/>
          <a:ln>
            <a:noFill/>
          </a:ln>
        </p:spPr>
      </p:sp>
      <p:sp>
        <p:nvSpPr>
          <p:cNvPr id="96" name="Google Shape;96;p17"/>
          <p:cNvSpPr/>
          <p:nvPr>
            <p:ph idx="4" type="pic"/>
          </p:nvPr>
        </p:nvSpPr>
        <p:spPr>
          <a:xfrm>
            <a:off x="3690375" y="539500"/>
            <a:ext cx="2285700" cy="2285700"/>
          </a:xfrm>
          <a:prstGeom prst="rect">
            <a:avLst/>
          </a:prstGeom>
          <a:noFill/>
          <a:ln>
            <a:noFill/>
          </a:ln>
        </p:spPr>
      </p:sp>
      <p:cxnSp>
        <p:nvCxnSpPr>
          <p:cNvPr id="97" name="Google Shape;97;p17"/>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98" name="Google Shape;98;p17"/>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99" name="Shape 99"/>
        <p:cNvGrpSpPr/>
        <p:nvPr/>
      </p:nvGrpSpPr>
      <p:grpSpPr>
        <a:xfrm>
          <a:off x="0" y="0"/>
          <a:ext cx="0" cy="0"/>
          <a:chOff x="0" y="0"/>
          <a:chExt cx="0" cy="0"/>
        </a:xfrm>
      </p:grpSpPr>
      <p:sp>
        <p:nvSpPr>
          <p:cNvPr id="100" name="Google Shape;100;p18"/>
          <p:cNvSpPr txBox="1"/>
          <p:nvPr>
            <p:ph type="title"/>
          </p:nvPr>
        </p:nvSpPr>
        <p:spPr>
          <a:xfrm>
            <a:off x="713250" y="445025"/>
            <a:ext cx="4635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1" name="Google Shape;101;p18"/>
          <p:cNvSpPr txBox="1"/>
          <p:nvPr>
            <p:ph idx="1" type="body"/>
          </p:nvPr>
        </p:nvSpPr>
        <p:spPr>
          <a:xfrm>
            <a:off x="713250" y="1406925"/>
            <a:ext cx="7717500" cy="25251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120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cxnSp>
        <p:nvCxnSpPr>
          <p:cNvPr id="102" name="Google Shape;102;p18"/>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03" name="Google Shape;103;p18"/>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04" name="Shape 104"/>
        <p:cNvGrpSpPr/>
        <p:nvPr/>
      </p:nvGrpSpPr>
      <p:grpSpPr>
        <a:xfrm>
          <a:off x="0" y="0"/>
          <a:ext cx="0" cy="0"/>
          <a:chOff x="0" y="0"/>
          <a:chExt cx="0" cy="0"/>
        </a:xfrm>
      </p:grpSpPr>
      <p:sp>
        <p:nvSpPr>
          <p:cNvPr id="105" name="Google Shape;105;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 name="Google Shape;106;p19"/>
          <p:cNvSpPr txBox="1"/>
          <p:nvPr>
            <p:ph idx="1" type="body"/>
          </p:nvPr>
        </p:nvSpPr>
        <p:spPr>
          <a:xfrm>
            <a:off x="720000" y="1187604"/>
            <a:ext cx="7704000" cy="28605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SzPts val="1200"/>
              <a:buFont typeface="Nunito Light"/>
              <a:buChar char="●"/>
              <a:defRPr sz="1400"/>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cxnSp>
        <p:nvCxnSpPr>
          <p:cNvPr id="107" name="Google Shape;107;p19"/>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08" name="Google Shape;108;p19"/>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AND_BODY_2">
    <p:spTree>
      <p:nvGrpSpPr>
        <p:cNvPr id="109" name="Shape 109"/>
        <p:cNvGrpSpPr/>
        <p:nvPr/>
      </p:nvGrpSpPr>
      <p:grpSpPr>
        <a:xfrm>
          <a:off x="0" y="0"/>
          <a:ext cx="0" cy="0"/>
          <a:chOff x="0" y="0"/>
          <a:chExt cx="0" cy="0"/>
        </a:xfrm>
      </p:grpSpPr>
      <p:sp>
        <p:nvSpPr>
          <p:cNvPr id="110" name="Google Shape;110;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 name="Google Shape;111;p20"/>
          <p:cNvSpPr txBox="1"/>
          <p:nvPr>
            <p:ph idx="1" type="body"/>
          </p:nvPr>
        </p:nvSpPr>
        <p:spPr>
          <a:xfrm>
            <a:off x="720000" y="1187589"/>
            <a:ext cx="7704000" cy="3416400"/>
          </a:xfrm>
          <a:prstGeom prst="rect">
            <a:avLst/>
          </a:prstGeom>
        </p:spPr>
        <p:txBody>
          <a:bodyPr anchorCtr="0" anchor="t" bIns="91425" lIns="91425" spcFirstLastPara="1" rIns="91425" wrap="square" tIns="91425">
            <a:noAutofit/>
          </a:bodyPr>
          <a:lstStyle>
            <a:lvl1pPr indent="-304800" lvl="0" marL="457200" rtl="0">
              <a:lnSpc>
                <a:spcPct val="115000"/>
              </a:lnSpc>
              <a:spcBef>
                <a:spcPts val="300"/>
              </a:spcBef>
              <a:spcAft>
                <a:spcPts val="0"/>
              </a:spcAft>
              <a:buSzPts val="1200"/>
              <a:buFont typeface="Nunito Light"/>
              <a:buChar char="●"/>
              <a:defRPr sz="1400"/>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cxnSp>
        <p:nvCxnSpPr>
          <p:cNvPr id="112" name="Google Shape;112;p20"/>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13" name="Google Shape;113;p20"/>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14" name="Shape 114"/>
        <p:cNvGrpSpPr/>
        <p:nvPr/>
      </p:nvGrpSpPr>
      <p:grpSpPr>
        <a:xfrm>
          <a:off x="0" y="0"/>
          <a:ext cx="0" cy="0"/>
          <a:chOff x="0" y="0"/>
          <a:chExt cx="0" cy="0"/>
        </a:xfrm>
      </p:grpSpPr>
      <p:sp>
        <p:nvSpPr>
          <p:cNvPr id="115" name="Google Shape;115;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6" name="Google Shape;116;p21"/>
          <p:cNvSpPr txBox="1"/>
          <p:nvPr>
            <p:ph idx="1" type="subTitle"/>
          </p:nvPr>
        </p:nvSpPr>
        <p:spPr>
          <a:xfrm>
            <a:off x="713225" y="3147477"/>
            <a:ext cx="2106900" cy="1350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17" name="Google Shape;117;p21"/>
          <p:cNvSpPr txBox="1"/>
          <p:nvPr>
            <p:ph idx="2" type="subTitle"/>
          </p:nvPr>
        </p:nvSpPr>
        <p:spPr>
          <a:xfrm>
            <a:off x="3074432" y="3147477"/>
            <a:ext cx="2106900" cy="1350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18" name="Google Shape;118;p21"/>
          <p:cNvSpPr txBox="1"/>
          <p:nvPr>
            <p:ph idx="3" type="subTitle"/>
          </p:nvPr>
        </p:nvSpPr>
        <p:spPr>
          <a:xfrm>
            <a:off x="5435639" y="3147479"/>
            <a:ext cx="2106900" cy="1350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19" name="Google Shape;119;p21"/>
          <p:cNvSpPr txBox="1"/>
          <p:nvPr>
            <p:ph idx="4" type="subTitle"/>
          </p:nvPr>
        </p:nvSpPr>
        <p:spPr>
          <a:xfrm>
            <a:off x="713225" y="2494475"/>
            <a:ext cx="2106900" cy="745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0" name="Google Shape;120;p21"/>
          <p:cNvSpPr txBox="1"/>
          <p:nvPr>
            <p:ph idx="5" type="subTitle"/>
          </p:nvPr>
        </p:nvSpPr>
        <p:spPr>
          <a:xfrm>
            <a:off x="3074433" y="2494475"/>
            <a:ext cx="2106900" cy="745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1" name="Google Shape;121;p21"/>
          <p:cNvSpPr txBox="1"/>
          <p:nvPr>
            <p:ph idx="6" type="subTitle"/>
          </p:nvPr>
        </p:nvSpPr>
        <p:spPr>
          <a:xfrm>
            <a:off x="5435634" y="2494475"/>
            <a:ext cx="2106900" cy="745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cxnSp>
        <p:nvCxnSpPr>
          <p:cNvPr id="122" name="Google Shape;122;p21"/>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21"/>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24" name="Shape 124"/>
        <p:cNvGrpSpPr/>
        <p:nvPr/>
      </p:nvGrpSpPr>
      <p:grpSpPr>
        <a:xfrm>
          <a:off x="0" y="0"/>
          <a:ext cx="0" cy="0"/>
          <a:chOff x="0" y="0"/>
          <a:chExt cx="0" cy="0"/>
        </a:xfrm>
      </p:grpSpPr>
      <p:sp>
        <p:nvSpPr>
          <p:cNvPr id="125" name="Google Shape;125;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6" name="Google Shape;126;p22"/>
          <p:cNvSpPr txBox="1"/>
          <p:nvPr>
            <p:ph idx="1" type="subTitle"/>
          </p:nvPr>
        </p:nvSpPr>
        <p:spPr>
          <a:xfrm>
            <a:off x="720000" y="1945660"/>
            <a:ext cx="2811000" cy="108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27" name="Google Shape;127;p22"/>
          <p:cNvSpPr txBox="1"/>
          <p:nvPr>
            <p:ph idx="2" type="subTitle"/>
          </p:nvPr>
        </p:nvSpPr>
        <p:spPr>
          <a:xfrm>
            <a:off x="4546553" y="1945654"/>
            <a:ext cx="2904600" cy="108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28" name="Google Shape;128;p22"/>
          <p:cNvSpPr txBox="1"/>
          <p:nvPr>
            <p:ph idx="3" type="subTitle"/>
          </p:nvPr>
        </p:nvSpPr>
        <p:spPr>
          <a:xfrm>
            <a:off x="720000" y="3515588"/>
            <a:ext cx="2811000" cy="108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29" name="Google Shape;129;p22"/>
          <p:cNvSpPr txBox="1"/>
          <p:nvPr>
            <p:ph idx="4" type="subTitle"/>
          </p:nvPr>
        </p:nvSpPr>
        <p:spPr>
          <a:xfrm>
            <a:off x="4546551" y="3515588"/>
            <a:ext cx="2904600" cy="108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30" name="Google Shape;130;p22"/>
          <p:cNvSpPr txBox="1"/>
          <p:nvPr>
            <p:ph idx="5" type="subTitle"/>
          </p:nvPr>
        </p:nvSpPr>
        <p:spPr>
          <a:xfrm>
            <a:off x="719999" y="1666404"/>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31" name="Google Shape;131;p22"/>
          <p:cNvSpPr txBox="1"/>
          <p:nvPr>
            <p:ph idx="6" type="subTitle"/>
          </p:nvPr>
        </p:nvSpPr>
        <p:spPr>
          <a:xfrm>
            <a:off x="719999" y="3236407"/>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32" name="Google Shape;132;p22"/>
          <p:cNvSpPr txBox="1"/>
          <p:nvPr>
            <p:ph idx="7" type="subTitle"/>
          </p:nvPr>
        </p:nvSpPr>
        <p:spPr>
          <a:xfrm>
            <a:off x="4546525" y="1666400"/>
            <a:ext cx="29046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33" name="Google Shape;133;p22"/>
          <p:cNvSpPr txBox="1"/>
          <p:nvPr>
            <p:ph idx="8" type="subTitle"/>
          </p:nvPr>
        </p:nvSpPr>
        <p:spPr>
          <a:xfrm>
            <a:off x="4546525" y="3236407"/>
            <a:ext cx="29046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cxnSp>
        <p:nvCxnSpPr>
          <p:cNvPr id="134" name="Google Shape;134;p22"/>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35" name="Google Shape;135;p22"/>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36" name="Shape 136"/>
        <p:cNvGrpSpPr/>
        <p:nvPr/>
      </p:nvGrpSpPr>
      <p:grpSpPr>
        <a:xfrm>
          <a:off x="0" y="0"/>
          <a:ext cx="0" cy="0"/>
          <a:chOff x="0" y="0"/>
          <a:chExt cx="0" cy="0"/>
        </a:xfrm>
      </p:grpSpPr>
      <p:sp>
        <p:nvSpPr>
          <p:cNvPr id="137" name="Google Shape;137;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8" name="Google Shape;138;p23"/>
          <p:cNvSpPr txBox="1"/>
          <p:nvPr>
            <p:ph idx="1" type="subTitle"/>
          </p:nvPr>
        </p:nvSpPr>
        <p:spPr>
          <a:xfrm>
            <a:off x="720025" y="1867400"/>
            <a:ext cx="24693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39" name="Google Shape;139;p23"/>
          <p:cNvSpPr txBox="1"/>
          <p:nvPr>
            <p:ph idx="2" type="subTitle"/>
          </p:nvPr>
        </p:nvSpPr>
        <p:spPr>
          <a:xfrm>
            <a:off x="3282145" y="1867410"/>
            <a:ext cx="25797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0" name="Google Shape;140;p23"/>
          <p:cNvSpPr txBox="1"/>
          <p:nvPr>
            <p:ph idx="3" type="subTitle"/>
          </p:nvPr>
        </p:nvSpPr>
        <p:spPr>
          <a:xfrm>
            <a:off x="720025" y="3544702"/>
            <a:ext cx="24693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1" name="Google Shape;141;p23"/>
          <p:cNvSpPr txBox="1"/>
          <p:nvPr>
            <p:ph idx="4" type="subTitle"/>
          </p:nvPr>
        </p:nvSpPr>
        <p:spPr>
          <a:xfrm>
            <a:off x="3282155" y="3544703"/>
            <a:ext cx="25797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2" name="Google Shape;142;p23"/>
          <p:cNvSpPr txBox="1"/>
          <p:nvPr>
            <p:ph idx="5" type="subTitle"/>
          </p:nvPr>
        </p:nvSpPr>
        <p:spPr>
          <a:xfrm>
            <a:off x="5954680" y="1867406"/>
            <a:ext cx="24693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3" name="Google Shape;143;p23"/>
          <p:cNvSpPr txBox="1"/>
          <p:nvPr>
            <p:ph idx="6" type="subTitle"/>
          </p:nvPr>
        </p:nvSpPr>
        <p:spPr>
          <a:xfrm>
            <a:off x="5954699" y="3544702"/>
            <a:ext cx="2469300" cy="105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44" name="Google Shape;144;p23"/>
          <p:cNvSpPr txBox="1"/>
          <p:nvPr>
            <p:ph idx="7" type="subTitle"/>
          </p:nvPr>
        </p:nvSpPr>
        <p:spPr>
          <a:xfrm>
            <a:off x="720025" y="1305419"/>
            <a:ext cx="24693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5" name="Google Shape;145;p23"/>
          <p:cNvSpPr txBox="1"/>
          <p:nvPr>
            <p:ph idx="8" type="subTitle"/>
          </p:nvPr>
        </p:nvSpPr>
        <p:spPr>
          <a:xfrm>
            <a:off x="3282145" y="1305419"/>
            <a:ext cx="25773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6" name="Google Shape;146;p23"/>
          <p:cNvSpPr txBox="1"/>
          <p:nvPr>
            <p:ph idx="9" type="subTitle"/>
          </p:nvPr>
        </p:nvSpPr>
        <p:spPr>
          <a:xfrm>
            <a:off x="5954680" y="1305419"/>
            <a:ext cx="24669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7" name="Google Shape;147;p23"/>
          <p:cNvSpPr txBox="1"/>
          <p:nvPr>
            <p:ph idx="13" type="subTitle"/>
          </p:nvPr>
        </p:nvSpPr>
        <p:spPr>
          <a:xfrm>
            <a:off x="720025" y="2985210"/>
            <a:ext cx="24693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8" name="Google Shape;148;p23"/>
          <p:cNvSpPr txBox="1"/>
          <p:nvPr>
            <p:ph idx="14" type="subTitle"/>
          </p:nvPr>
        </p:nvSpPr>
        <p:spPr>
          <a:xfrm>
            <a:off x="3282145" y="2985206"/>
            <a:ext cx="25773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49" name="Google Shape;149;p23"/>
          <p:cNvSpPr txBox="1"/>
          <p:nvPr>
            <p:ph idx="15" type="subTitle"/>
          </p:nvPr>
        </p:nvSpPr>
        <p:spPr>
          <a:xfrm>
            <a:off x="5954680" y="2985200"/>
            <a:ext cx="2469300" cy="67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2000">
                <a:solidFill>
                  <a:schemeClr val="dk1"/>
                </a:solidFill>
                <a:latin typeface="Playfair Display Medium"/>
                <a:ea typeface="Playfair Display Medium"/>
                <a:cs typeface="Playfair Display Medium"/>
                <a:sym typeface="Playfair Display Medium"/>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cxnSp>
        <p:nvCxnSpPr>
          <p:cNvPr id="150" name="Google Shape;150;p23"/>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51" name="Google Shape;151;p23"/>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52" name="Shape 152"/>
        <p:cNvGrpSpPr/>
        <p:nvPr/>
      </p:nvGrpSpPr>
      <p:grpSpPr>
        <a:xfrm>
          <a:off x="0" y="0"/>
          <a:ext cx="0" cy="0"/>
          <a:chOff x="0" y="0"/>
          <a:chExt cx="0" cy="0"/>
        </a:xfrm>
      </p:grpSpPr>
      <p:sp>
        <p:nvSpPr>
          <p:cNvPr id="153" name="Google Shape;153;p24"/>
          <p:cNvSpPr txBox="1"/>
          <p:nvPr>
            <p:ph type="title"/>
          </p:nvPr>
        </p:nvSpPr>
        <p:spPr>
          <a:xfrm>
            <a:off x="734825" y="2908025"/>
            <a:ext cx="3108300" cy="7254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3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4" name="Google Shape;154;p24"/>
          <p:cNvSpPr txBox="1"/>
          <p:nvPr>
            <p:ph idx="1" type="subTitle"/>
          </p:nvPr>
        </p:nvSpPr>
        <p:spPr>
          <a:xfrm>
            <a:off x="734825" y="3543900"/>
            <a:ext cx="3108300" cy="913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cxnSp>
        <p:nvCxnSpPr>
          <p:cNvPr id="155" name="Google Shape;155;p24"/>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156" name="Google Shape;156;p24"/>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
        <p:nvSpPr>
          <p:cNvPr id="157" name="Google Shape;157;p24"/>
          <p:cNvSpPr txBox="1"/>
          <p:nvPr/>
        </p:nvSpPr>
        <p:spPr>
          <a:xfrm>
            <a:off x="4050875" y="3730325"/>
            <a:ext cx="42540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DM Sans"/>
                <a:ea typeface="DM Sans"/>
                <a:cs typeface="DM Sans"/>
                <a:sym typeface="DM Sans"/>
              </a:rPr>
              <a:t>CREDITS:</a:t>
            </a:r>
            <a:r>
              <a:rPr lang="en" sz="1000">
                <a:solidFill>
                  <a:schemeClr val="dk1"/>
                </a:solidFill>
                <a:latin typeface="DM Sans"/>
                <a:ea typeface="DM Sans"/>
                <a:cs typeface="DM Sans"/>
                <a:sym typeface="DM Sans"/>
              </a:rPr>
              <a:t> This presentation template was created by </a:t>
            </a:r>
            <a:r>
              <a:rPr b="1" lang="en" sz="10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000">
                <a:solidFill>
                  <a:schemeClr val="dk1"/>
                </a:solidFill>
                <a:latin typeface="DM Sans"/>
                <a:ea typeface="DM Sans"/>
                <a:cs typeface="DM Sans"/>
                <a:sym typeface="DM Sans"/>
              </a:rPr>
              <a:t>, and includes icons by </a:t>
            </a:r>
            <a:r>
              <a:rPr b="1" lang="en" sz="10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000">
                <a:solidFill>
                  <a:schemeClr val="dk1"/>
                </a:solidFill>
                <a:latin typeface="DM Sans"/>
                <a:ea typeface="DM Sans"/>
                <a:cs typeface="DM Sans"/>
                <a:sym typeface="DM Sans"/>
              </a:rPr>
              <a:t>, and infographics &amp; images by </a:t>
            </a:r>
            <a:r>
              <a:rPr b="1" lang="en" sz="10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000" u="sng">
                <a:solidFill>
                  <a:schemeClr val="dk1"/>
                </a:solidFill>
                <a:latin typeface="DM Sans"/>
                <a:ea typeface="DM Sans"/>
                <a:cs typeface="DM Sans"/>
                <a:sym typeface="DM Sans"/>
              </a:rPr>
              <a:t> </a:t>
            </a:r>
            <a:endParaRPr b="1" sz="1000" u="sng">
              <a:solidFill>
                <a:schemeClr val="dk1"/>
              </a:solidFill>
              <a:latin typeface="DM Sans"/>
              <a:ea typeface="DM Sans"/>
              <a:cs typeface="DM Sans"/>
              <a:sym typeface="DM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58" name="Shape 158"/>
        <p:cNvGrpSpPr/>
        <p:nvPr/>
      </p:nvGrpSpPr>
      <p:grpSpPr>
        <a:xfrm>
          <a:off x="0" y="0"/>
          <a:ext cx="0" cy="0"/>
          <a:chOff x="0" y="0"/>
          <a:chExt cx="0" cy="0"/>
        </a:xfrm>
      </p:grpSpPr>
      <p:cxnSp>
        <p:nvCxnSpPr>
          <p:cNvPr id="159" name="Google Shape;159;p25"/>
          <p:cNvCxnSpPr/>
          <p:nvPr/>
        </p:nvCxnSpPr>
        <p:spPr>
          <a:xfrm>
            <a:off x="7161050" y="303000"/>
            <a:ext cx="2078700" cy="0"/>
          </a:xfrm>
          <a:prstGeom prst="straightConnector1">
            <a:avLst/>
          </a:prstGeom>
          <a:noFill/>
          <a:ln cap="flat" cmpd="sng" w="9525">
            <a:solidFill>
              <a:schemeClr val="dk1"/>
            </a:solidFill>
            <a:prstDash val="solid"/>
            <a:round/>
            <a:headEnd len="med" w="med" type="none"/>
            <a:tailEnd len="med" w="med" type="none"/>
          </a:ln>
        </p:spPr>
      </p:cxnSp>
      <p:cxnSp>
        <p:nvCxnSpPr>
          <p:cNvPr id="160" name="Google Shape;160;p25"/>
          <p:cNvCxnSpPr/>
          <p:nvPr/>
        </p:nvCxnSpPr>
        <p:spPr>
          <a:xfrm rot="10800000">
            <a:off x="876862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61" name="Shape 161"/>
        <p:cNvGrpSpPr/>
        <p:nvPr/>
      </p:nvGrpSpPr>
      <p:grpSpPr>
        <a:xfrm>
          <a:off x="0" y="0"/>
          <a:ext cx="0" cy="0"/>
          <a:chOff x="0" y="0"/>
          <a:chExt cx="0" cy="0"/>
        </a:xfrm>
      </p:grpSpPr>
      <p:cxnSp>
        <p:nvCxnSpPr>
          <p:cNvPr id="162" name="Google Shape;162;p26"/>
          <p:cNvCxnSpPr/>
          <p:nvPr/>
        </p:nvCxnSpPr>
        <p:spPr>
          <a:xfrm>
            <a:off x="3167225" y="539500"/>
            <a:ext cx="6072600" cy="0"/>
          </a:xfrm>
          <a:prstGeom prst="straightConnector1">
            <a:avLst/>
          </a:prstGeom>
          <a:noFill/>
          <a:ln cap="flat" cmpd="sng" w="9525">
            <a:solidFill>
              <a:schemeClr val="dk1"/>
            </a:solidFill>
            <a:prstDash val="solid"/>
            <a:round/>
            <a:headEnd len="med" w="med" type="none"/>
            <a:tailEnd len="med" w="med" type="none"/>
          </a:ln>
        </p:spPr>
      </p:cxnSp>
      <p:cxnSp>
        <p:nvCxnSpPr>
          <p:cNvPr id="163" name="Google Shape;163;p26"/>
          <p:cNvCxnSpPr/>
          <p:nvPr/>
        </p:nvCxnSpPr>
        <p:spPr>
          <a:xfrm rot="10800000">
            <a:off x="8430775" y="-28312"/>
            <a:ext cx="0" cy="4632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Playfair Display Medium"/>
              <a:buNone/>
              <a:defRPr sz="2800">
                <a:solidFill>
                  <a:schemeClr val="dk1"/>
                </a:solidFill>
                <a:latin typeface="Playfair Display Medium"/>
                <a:ea typeface="Playfair Display Medium"/>
                <a:cs typeface="Playfair Display Medium"/>
                <a:sym typeface="Playfair Display Medium"/>
              </a:defRPr>
            </a:lvl1pPr>
            <a:lvl2pPr lvl="1"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2pPr>
            <a:lvl3pPr lvl="2"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3pPr>
            <a:lvl4pPr lvl="3"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4pPr>
            <a:lvl5pPr lvl="4"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5pPr>
            <a:lvl6pPr lvl="5"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6pPr>
            <a:lvl7pPr lvl="6"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7pPr>
            <a:lvl8pPr lvl="7"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8pPr>
            <a:lvl9pPr lvl="8" rtl="0">
              <a:spcBef>
                <a:spcPts val="0"/>
              </a:spcBef>
              <a:spcAft>
                <a:spcPts val="0"/>
              </a:spcAft>
              <a:buClr>
                <a:schemeClr val="dk1"/>
              </a:buClr>
              <a:buSzPts val="3000"/>
              <a:buFont typeface="Playfair Display"/>
              <a:buNone/>
              <a:defRPr b="1" sz="30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indent="-304800" lvl="1" marL="9144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indent="-304800" lvl="2" marL="13716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indent="-304800" lvl="3" marL="1828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indent="-304800" lvl="4" marL="22860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indent="-304800" lvl="5" marL="27432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indent="-304800" lvl="6" marL="32004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indent="-304800" lvl="7" marL="36576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indent="-304800" lvl="8" marL="4114800">
              <a:lnSpc>
                <a:spcPct val="100000"/>
              </a:lnSpc>
              <a:spcBef>
                <a:spcPts val="1600"/>
              </a:spcBef>
              <a:spcAft>
                <a:spcPts val="1600"/>
              </a:spcAft>
              <a:buClr>
                <a:schemeClr val="dk1"/>
              </a:buClr>
              <a:buSzPts val="1200"/>
              <a:buFont typeface="DM Sans"/>
              <a:buChar char="■"/>
              <a:defRPr sz="1200">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ctrTitle"/>
          </p:nvPr>
        </p:nvSpPr>
        <p:spPr>
          <a:xfrm>
            <a:off x="713225" y="2560825"/>
            <a:ext cx="4595700" cy="189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FinGuard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9" name="Google Shape;169;p27"/>
          <p:cNvSpPr txBox="1"/>
          <p:nvPr>
            <p:ph idx="1" type="subTitle"/>
          </p:nvPr>
        </p:nvSpPr>
        <p:spPr>
          <a:xfrm>
            <a:off x="713275" y="1007350"/>
            <a:ext cx="2208900" cy="56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Silas and Georgi</a:t>
            </a:r>
            <a:endParaRPr/>
          </a:p>
        </p:txBody>
      </p:sp>
      <p:sp>
        <p:nvSpPr>
          <p:cNvPr id="170" name="Google Shape;170;p27"/>
          <p:cNvSpPr txBox="1"/>
          <p:nvPr>
            <p:ph idx="1" type="subTitle"/>
          </p:nvPr>
        </p:nvSpPr>
        <p:spPr>
          <a:xfrm>
            <a:off x="754406" y="3281275"/>
            <a:ext cx="4960500" cy="56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reliability layer for financial AI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TextBox 174"/>
          <p:cNvSpPr txBox="1"/>
          <p:nvPr/>
        </p:nvSpPr>
        <p:spPr>
          <a:xfrm>
            <a:off x="749808" y="512064"/>
            <a:ext cx="7452360" cy="731520"/>
          </a:xfrm>
          <a:prstGeom prst="rect">
            <a:avLst/>
          </a:prstGeom>
          <a:noFill/>
        </p:spPr>
        <p:txBody>
          <a:bodyPr wrap="square" lIns="27432" rIns="27432" tIns="27432" bIns="27432">
            <a:spAutoFit/>
          </a:bodyPr>
          <a:lstStyle/>
          <a:p>
            <a:pPr>
              <a:spcAft>
                <a:spcPts val="800"/>
              </a:spcAft>
              <a:defRPr sz="2600" b="0">
                <a:solidFill>
                  <a:srgbClr val="333333"/>
                </a:solidFill>
                <a:latin typeface="Playfair Display"/>
              </a:defRPr>
            </a:pPr>
            <a:r>
              <a:t>One bad AI answer can cost a firm dearly</a:t>
            </a:r>
          </a:p>
        </p:txBody>
      </p:sp>
      <p:sp>
        <p:nvSpPr>
          <p:cNvPr id="176" name="TextBox 175"/>
          <p:cNvSpPr txBox="1"/>
          <p:nvPr/>
        </p:nvSpPr>
        <p:spPr>
          <a:xfrm>
            <a:off x="749808" y="1508760"/>
            <a:ext cx="3291840" cy="640080"/>
          </a:xfrm>
          <a:prstGeom prst="rect">
            <a:avLst/>
          </a:prstGeom>
          <a:noFill/>
        </p:spPr>
        <p:txBody>
          <a:bodyPr wrap="square" lIns="27432" rIns="27432" tIns="27432" bIns="27432">
            <a:spAutoFit/>
          </a:bodyPr>
          <a:lstStyle/>
          <a:p>
            <a:pPr>
              <a:spcAft>
                <a:spcPts val="800"/>
              </a:spcAft>
              <a:defRPr sz="2100" b="0">
                <a:solidFill>
                  <a:srgbClr val="333333"/>
                </a:solidFill>
                <a:latin typeface="Playfair Display"/>
              </a:defRPr>
            </a:pPr>
            <a:r>
              <a:t>Plausible does not mean reliable.</a:t>
            </a:r>
          </a:p>
        </p:txBody>
      </p:sp>
      <p:sp>
        <p:nvSpPr>
          <p:cNvPr id="177" name="TextBox 176"/>
          <p:cNvSpPr txBox="1"/>
          <p:nvPr/>
        </p:nvSpPr>
        <p:spPr>
          <a:xfrm>
            <a:off x="749808" y="2313432"/>
            <a:ext cx="3200400" cy="1645920"/>
          </a:xfrm>
          <a:prstGeom prst="rect">
            <a:avLst/>
          </a:prstGeom>
          <a:noFill/>
        </p:spPr>
        <p:txBody>
          <a:bodyPr wrap="square" lIns="27432" rIns="27432" tIns="27432" bIns="27432">
            <a:spAutoFit/>
          </a:bodyPr>
          <a:lstStyle/>
          <a:p>
            <a:pPr>
              <a:spcAft>
                <a:spcPts val="800"/>
              </a:spcAft>
              <a:defRPr sz="1600" b="0">
                <a:solidFill>
                  <a:srgbClr val="333333"/>
                </a:solidFill>
                <a:latin typeface="Arial"/>
              </a:defRPr>
            </a:pPr>
            <a:r>
              <a:t>Invented rates. Unsupported advice.</a:t>
            </a:r>
          </a:p>
          <a:p>
            <a:pPr>
              <a:spcAft>
                <a:spcPts val="800"/>
              </a:spcAft>
              <a:defRPr sz="1600" b="0">
                <a:solidFill>
                  <a:srgbClr val="333333"/>
                </a:solidFill>
                <a:latin typeface="Arial"/>
              </a:defRPr>
            </a:pPr>
            <a:r>
              <a:t>Sensitive data in the wrong hands.</a:t>
            </a:r>
          </a:p>
          <a:p>
            <a:pPr>
              <a:spcAft>
                <a:spcPts val="800"/>
              </a:spcAft>
              <a:defRPr sz="1600" b="0">
                <a:solidFill>
                  <a:srgbClr val="333333"/>
                </a:solidFill>
                <a:latin typeface="Arial"/>
              </a:defRPr>
            </a:pPr>
            <a:r>
              <a:t>A confident answer can still be wrong.</a:t>
            </a:r>
          </a:p>
        </p:txBody>
      </p:sp>
      <p:sp>
        <p:nvSpPr>
          <p:cNvPr id="178" name="TextBox 177"/>
          <p:cNvSpPr txBox="1"/>
          <p:nvPr/>
        </p:nvSpPr>
        <p:spPr>
          <a:xfrm>
            <a:off x="4617720" y="1874519"/>
            <a:ext cx="3337560" cy="1737360"/>
          </a:xfrm>
          <a:prstGeom prst="rect">
            <a:avLst/>
          </a:prstGeom>
          <a:noFill/>
        </p:spPr>
        <p:txBody>
          <a:bodyPr wrap="square" lIns="27432" rIns="27432" tIns="27432" bIns="27432">
            <a:spAutoFit/>
          </a:bodyPr>
          <a:lstStyle/>
          <a:p>
            <a:pPr>
              <a:spcAft>
                <a:spcPts val="800"/>
              </a:spcAft>
              <a:defRPr sz="2100" b="0">
                <a:solidFill>
                  <a:srgbClr val="333333"/>
                </a:solidFill>
                <a:latin typeface="Playfair Display"/>
              </a:defRPr>
            </a:pPr>
            <a:r>
              <a:t>Financial firms need more than an answer.</a:t>
            </a:r>
          </a:p>
          <a:p>
            <a:pPr>
              <a:spcAft>
                <a:spcPts val="800"/>
              </a:spcAft>
              <a:defRPr sz="2100" b="0">
                <a:solidFill>
                  <a:srgbClr val="333333"/>
                </a:solidFill>
                <a:latin typeface="Playfair Display"/>
              </a:defRPr>
            </a:pPr>
            <a:r>
              <a:t>They need boundaries, evidence and human oversight.</a:t>
            </a:r>
          </a:p>
        </p:txBody>
      </p:sp>
      <p:sp>
        <p:nvSpPr>
          <p:cNvPr id="179" name="TextBox 178"/>
          <p:cNvSpPr txBox="1"/>
          <p:nvPr/>
        </p:nvSpPr>
        <p:spPr>
          <a:xfrm>
            <a:off x="749808" y="4498848"/>
            <a:ext cx="7452360" cy="384048"/>
          </a:xfrm>
          <a:prstGeom prst="rect">
            <a:avLst/>
          </a:prstGeom>
          <a:noFill/>
        </p:spPr>
        <p:txBody>
          <a:bodyPr wrap="square" lIns="27432" rIns="27432" tIns="27432" bIns="27432">
            <a:spAutoFit/>
          </a:bodyPr>
          <a:lstStyle/>
          <a:p>
            <a:pPr>
              <a:spcAft>
                <a:spcPts val="800"/>
              </a:spcAft>
              <a:defRPr sz="900" b="0">
                <a:solidFill>
                  <a:srgbClr val="66615D"/>
                </a:solidFill>
                <a:latin typeface="Arial"/>
              </a:defRPr>
            </a:pPr>
            <a:r>
              <a:t>Four use cases: client services · research · compliance &amp; operations · internal staff</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TextBox 182"/>
          <p:cNvSpPr txBox="1"/>
          <p:nvPr/>
        </p:nvSpPr>
        <p:spPr>
          <a:xfrm>
            <a:off x="749808" y="512064"/>
            <a:ext cx="7452360" cy="731520"/>
          </a:xfrm>
          <a:prstGeom prst="rect">
            <a:avLst/>
          </a:prstGeom>
          <a:noFill/>
        </p:spPr>
        <p:txBody>
          <a:bodyPr wrap="square" lIns="27432" rIns="27432" tIns="27432" bIns="27432">
            <a:spAutoFit/>
          </a:bodyPr>
          <a:lstStyle/>
          <a:p>
            <a:pPr>
              <a:spcAft>
                <a:spcPts val="800"/>
              </a:spcAft>
              <a:defRPr sz="2600" b="0">
                <a:solidFill>
                  <a:srgbClr val="333333"/>
                </a:solidFill>
                <a:latin typeface="Playfair Display"/>
              </a:defRPr>
            </a:pPr>
            <a:r>
              <a:t>Measured in our mock demo</a:t>
            </a:r>
          </a:p>
        </p:txBody>
      </p:sp>
      <p:sp>
        <p:nvSpPr>
          <p:cNvPr id="184" name="TextBox 183"/>
          <p:cNvSpPr txBox="1"/>
          <p:nvPr/>
        </p:nvSpPr>
        <p:spPr>
          <a:xfrm>
            <a:off x="749808" y="1508760"/>
            <a:ext cx="3931920" cy="822960"/>
          </a:xfrm>
          <a:prstGeom prst="rect">
            <a:avLst/>
          </a:prstGeom>
          <a:noFill/>
        </p:spPr>
        <p:txBody>
          <a:bodyPr wrap="square" lIns="27432" rIns="27432" tIns="27432" bIns="27432">
            <a:spAutoFit/>
          </a:bodyPr>
          <a:lstStyle/>
          <a:p>
            <a:pPr>
              <a:spcAft>
                <a:spcPts val="800"/>
              </a:spcAft>
              <a:defRPr sz="3300" b="0">
                <a:solidFill>
                  <a:srgbClr val="333333"/>
                </a:solidFill>
                <a:latin typeface="Playfair Display"/>
              </a:defRPr>
            </a:pPr>
            <a:r>
              <a:t>45 / 80  →  0 / 80</a:t>
            </a:r>
          </a:p>
        </p:txBody>
      </p:sp>
      <p:sp>
        <p:nvSpPr>
          <p:cNvPr id="185" name="TextBox 184"/>
          <p:cNvSpPr txBox="1"/>
          <p:nvPr/>
        </p:nvSpPr>
        <p:spPr>
          <a:xfrm>
            <a:off x="749808" y="2331720"/>
            <a:ext cx="3931920" cy="1143000"/>
          </a:xfrm>
          <a:prstGeom prst="rect">
            <a:avLst/>
          </a:prstGeom>
          <a:noFill/>
        </p:spPr>
        <p:txBody>
          <a:bodyPr wrap="square" lIns="27432" rIns="27432" tIns="27432" bIns="27432">
            <a:spAutoFit/>
          </a:bodyPr>
          <a:lstStyle/>
          <a:p>
            <a:pPr>
              <a:spcAft>
                <a:spcPts val="800"/>
              </a:spcAft>
              <a:defRPr sz="1600" b="0">
                <a:solidFill>
                  <a:srgbClr val="333333"/>
                </a:solidFill>
                <a:latin typeface="Arial"/>
              </a:defRPr>
            </a:pPr>
            <a:r>
              <a:t>Scored content violations</a:t>
            </a:r>
          </a:p>
          <a:p>
            <a:pPr>
              <a:spcAft>
                <a:spcPts val="800"/>
              </a:spcAft>
              <a:defRPr sz="1600" b="0">
                <a:solidFill>
                  <a:srgbClr val="333333"/>
                </a:solidFill>
                <a:latin typeface="Arial"/>
              </a:defRPr>
            </a:pPr>
            <a:r>
              <a:t>Guardrails OFF → Guardrails ON</a:t>
            </a:r>
          </a:p>
        </p:txBody>
      </p:sp>
      <p:sp>
        <p:nvSpPr>
          <p:cNvPr id="186" name="TextBox 185"/>
          <p:cNvSpPr txBox="1"/>
          <p:nvPr/>
        </p:nvSpPr>
        <p:spPr>
          <a:xfrm>
            <a:off x="5120640" y="1508760"/>
            <a:ext cx="2926080" cy="822960"/>
          </a:xfrm>
          <a:prstGeom prst="rect">
            <a:avLst/>
          </a:prstGeom>
          <a:noFill/>
        </p:spPr>
        <p:txBody>
          <a:bodyPr wrap="square" lIns="27432" rIns="27432" tIns="27432" bIns="27432">
            <a:spAutoFit/>
          </a:bodyPr>
          <a:lstStyle/>
          <a:p>
            <a:pPr>
              <a:spcAft>
                <a:spcPts val="800"/>
              </a:spcAft>
              <a:defRPr sz="3300" b="0">
                <a:solidFill>
                  <a:srgbClr val="333333"/>
                </a:solidFill>
                <a:latin typeface="Playfair Display"/>
              </a:defRPr>
            </a:pPr>
            <a:r>
              <a:t>3 / 24</a:t>
            </a:r>
          </a:p>
        </p:txBody>
      </p:sp>
      <p:sp>
        <p:nvSpPr>
          <p:cNvPr id="187" name="TextBox 186"/>
          <p:cNvSpPr txBox="1"/>
          <p:nvPr/>
        </p:nvSpPr>
        <p:spPr>
          <a:xfrm>
            <a:off x="5120640" y="2331720"/>
            <a:ext cx="2926080" cy="1143000"/>
          </a:xfrm>
          <a:prstGeom prst="rect">
            <a:avLst/>
          </a:prstGeom>
          <a:noFill/>
        </p:spPr>
        <p:txBody>
          <a:bodyPr wrap="square" lIns="27432" rIns="27432" tIns="27432" bIns="27432">
            <a:spAutoFit/>
          </a:bodyPr>
          <a:lstStyle/>
          <a:p>
            <a:pPr>
              <a:spcAft>
                <a:spcPts val="800"/>
              </a:spcAft>
              <a:defRPr sz="1600" b="0">
                <a:solidFill>
                  <a:srgbClr val="333333"/>
                </a:solidFill>
                <a:latin typeface="Arial"/>
              </a:defRPr>
            </a:pPr>
            <a:r>
              <a:t>False positives on</a:t>
            </a:r>
          </a:p>
          <a:p>
            <a:pPr>
              <a:spcAft>
                <a:spcPts val="800"/>
              </a:spcAft>
              <a:defRPr sz="1600" b="0">
                <a:solidFill>
                  <a:srgbClr val="333333"/>
                </a:solidFill>
                <a:latin typeface="Arial"/>
              </a:defRPr>
            </a:pPr>
            <a:r>
              <a:t>legitimate requests</a:t>
            </a:r>
          </a:p>
        </p:txBody>
      </p:sp>
      <p:sp>
        <p:nvSpPr>
          <p:cNvPr id="188" name="TextBox 187"/>
          <p:cNvSpPr txBox="1"/>
          <p:nvPr/>
        </p:nvSpPr>
        <p:spPr>
          <a:xfrm>
            <a:off x="749808" y="3657600"/>
            <a:ext cx="7223760" cy="594360"/>
          </a:xfrm>
          <a:prstGeom prst="rect">
            <a:avLst/>
          </a:prstGeom>
          <a:noFill/>
        </p:spPr>
        <p:txBody>
          <a:bodyPr wrap="square" lIns="27432" rIns="27432" tIns="27432" bIns="27432">
            <a:spAutoFit/>
          </a:bodyPr>
          <a:lstStyle/>
          <a:p>
            <a:pPr>
              <a:spcAft>
                <a:spcPts val="800"/>
              </a:spcAft>
              <a:defRPr sz="1500" b="0">
                <a:solidFill>
                  <a:srgbClr val="333333"/>
                </a:solidFill>
                <a:latin typeface="Arial"/>
              </a:defRPr>
            </a:pPr>
            <a:r>
              <a:t>80 fictional cases · four profiles · 160 paired requests</a:t>
            </a:r>
          </a:p>
        </p:txBody>
      </p:sp>
      <p:sp>
        <p:nvSpPr>
          <p:cNvPr id="189" name="TextBox 188"/>
          <p:cNvSpPr txBox="1"/>
          <p:nvPr/>
        </p:nvSpPr>
        <p:spPr>
          <a:xfrm>
            <a:off x="749808" y="4498848"/>
            <a:ext cx="7452360" cy="384048"/>
          </a:xfrm>
          <a:prstGeom prst="rect">
            <a:avLst/>
          </a:prstGeom>
          <a:noFill/>
        </p:spPr>
        <p:txBody>
          <a:bodyPr wrap="square" lIns="27432" rIns="27432" tIns="27432" bIns="27432">
            <a:spAutoFit/>
          </a:bodyPr>
          <a:lstStyle/>
          <a:p>
            <a:pPr>
              <a:spcAft>
                <a:spcPts val="800"/>
              </a:spcAft>
              <a:defRPr sz="900" b="0">
                <a:solidFill>
                  <a:srgbClr val="66615D"/>
                </a:solidFill>
                <a:latin typeface="Arial"/>
              </a:defRPr>
            </a:pPr>
            <a:r>
              <a:t>Source: FinGuard evaluation-report.md · scripted mock model and limited heuristic scorers, not real-world guarantees.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1138950" y="1307100"/>
            <a:ext cx="68661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OUR SOLUTION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TextBox 193"/>
          <p:cNvSpPr txBox="1"/>
          <p:nvPr/>
        </p:nvSpPr>
        <p:spPr>
          <a:xfrm>
            <a:off x="749808" y="512064"/>
            <a:ext cx="7452360" cy="731520"/>
          </a:xfrm>
          <a:prstGeom prst="rect">
            <a:avLst/>
          </a:prstGeom>
          <a:noFill/>
        </p:spPr>
        <p:txBody>
          <a:bodyPr wrap="square" lIns="27432" rIns="27432" tIns="27432" bIns="27432">
            <a:spAutoFit/>
          </a:bodyPr>
          <a:lstStyle/>
          <a:p>
            <a:pPr>
              <a:spcAft>
                <a:spcPts val="800"/>
              </a:spcAft>
              <a:defRPr sz="2600" b="0">
                <a:solidFill>
                  <a:srgbClr val="333333"/>
                </a:solidFill>
                <a:latin typeface="Playfair Display"/>
              </a:defRPr>
            </a:pPr>
            <a:r>
              <a:t>FinGuard</a:t>
            </a:r>
          </a:p>
        </p:txBody>
      </p:sp>
      <p:sp>
        <p:nvSpPr>
          <p:cNvPr id="195" name="TextBox 194"/>
          <p:cNvSpPr txBox="1"/>
          <p:nvPr/>
        </p:nvSpPr>
        <p:spPr>
          <a:xfrm>
            <a:off x="749808" y="1188720"/>
            <a:ext cx="7315200" cy="457200"/>
          </a:xfrm>
          <a:prstGeom prst="rect">
            <a:avLst/>
          </a:prstGeom>
          <a:noFill/>
        </p:spPr>
        <p:txBody>
          <a:bodyPr wrap="square" lIns="27432" rIns="27432" tIns="27432" bIns="27432">
            <a:spAutoFit/>
          </a:bodyPr>
          <a:lstStyle/>
          <a:p>
            <a:pPr>
              <a:spcAft>
                <a:spcPts val="800"/>
              </a:spcAft>
              <a:defRPr sz="1600" b="0">
                <a:solidFill>
                  <a:srgbClr val="333333"/>
                </a:solidFill>
                <a:latin typeface="Arial"/>
              </a:defRPr>
            </a:pPr>
            <a:r>
              <a:t>A guardrail layer between users and AI models.</a:t>
            </a:r>
          </a:p>
        </p:txBody>
      </p:sp>
      <p:sp>
        <p:nvSpPr>
          <p:cNvPr id="196" name="TextBox 195"/>
          <p:cNvSpPr txBox="1"/>
          <p:nvPr/>
        </p:nvSpPr>
        <p:spPr>
          <a:xfrm>
            <a:off x="749808" y="1920240"/>
            <a:ext cx="2286000" cy="594360"/>
          </a:xfrm>
          <a:prstGeom prst="rect">
            <a:avLst/>
          </a:prstGeom>
          <a:noFill/>
        </p:spPr>
        <p:txBody>
          <a:bodyPr wrap="square" lIns="27432" rIns="27432" tIns="27432" bIns="27432">
            <a:spAutoFit/>
          </a:bodyPr>
          <a:lstStyle/>
          <a:p>
            <a:pPr>
              <a:spcAft>
                <a:spcPts val="800"/>
              </a:spcAft>
              <a:defRPr sz="2100" b="0">
                <a:solidFill>
                  <a:srgbClr val="333333"/>
                </a:solidFill>
                <a:latin typeface="Playfair Display"/>
              </a:defRPr>
            </a:pPr>
            <a:r>
              <a:t>01  Inspect</a:t>
            </a:r>
          </a:p>
        </p:txBody>
      </p:sp>
      <p:sp>
        <p:nvSpPr>
          <p:cNvPr id="197" name="TextBox 196"/>
          <p:cNvSpPr txBox="1"/>
          <p:nvPr/>
        </p:nvSpPr>
        <p:spPr>
          <a:xfrm>
            <a:off x="749808" y="2697480"/>
            <a:ext cx="2286000" cy="1417320"/>
          </a:xfrm>
          <a:prstGeom prst="rect">
            <a:avLst/>
          </a:prstGeom>
          <a:noFill/>
        </p:spPr>
        <p:txBody>
          <a:bodyPr wrap="square" lIns="27432" rIns="27432" tIns="27432" bIns="27432">
            <a:spAutoFit/>
          </a:bodyPr>
          <a:lstStyle/>
          <a:p>
            <a:pPr>
              <a:spcAft>
                <a:spcPts val="800"/>
              </a:spcAft>
              <a:defRPr sz="1400" b="0">
                <a:solidFill>
                  <a:srgbClr val="333333"/>
                </a:solidFill>
                <a:latin typeface="Arial"/>
              </a:defRPr>
            </a:pPr>
            <a:r>
              <a:t>Redact sensitive input.</a:t>
            </a:r>
          </a:p>
          <a:p>
            <a:pPr>
              <a:spcAft>
                <a:spcPts val="800"/>
              </a:spcAft>
              <a:defRPr sz="1400" b="0">
                <a:solidFill>
                  <a:srgbClr val="333333"/>
                </a:solidFill>
                <a:latin typeface="Arial"/>
              </a:defRPr>
            </a:pPr>
            <a:r>
              <a:t>Check scope, permissions</a:t>
            </a:r>
          </a:p>
          <a:p>
            <a:pPr>
              <a:spcAft>
                <a:spcPts val="800"/>
              </a:spcAft>
              <a:defRPr sz="1400" b="0">
                <a:solidFill>
                  <a:srgbClr val="333333"/>
                </a:solidFill>
                <a:latin typeface="Arial"/>
              </a:defRPr>
            </a:pPr>
            <a:r>
              <a:t>and potential inside information.</a:t>
            </a:r>
          </a:p>
        </p:txBody>
      </p:sp>
      <p:sp>
        <p:nvSpPr>
          <p:cNvPr id="198" name="TextBox 197"/>
          <p:cNvSpPr txBox="1"/>
          <p:nvPr/>
        </p:nvSpPr>
        <p:spPr>
          <a:xfrm>
            <a:off x="3319272" y="1920240"/>
            <a:ext cx="2286000" cy="594360"/>
          </a:xfrm>
          <a:prstGeom prst="rect">
            <a:avLst/>
          </a:prstGeom>
          <a:noFill/>
        </p:spPr>
        <p:txBody>
          <a:bodyPr wrap="square" lIns="27432" rIns="27432" tIns="27432" bIns="27432">
            <a:spAutoFit/>
          </a:bodyPr>
          <a:lstStyle/>
          <a:p>
            <a:pPr>
              <a:spcAft>
                <a:spcPts val="800"/>
              </a:spcAft>
              <a:defRPr sz="2100" b="0">
                <a:solidFill>
                  <a:srgbClr val="333333"/>
                </a:solidFill>
                <a:latin typeface="Playfair Display"/>
              </a:defRPr>
            </a:pPr>
            <a:r>
              <a:t>02  Enforce</a:t>
            </a:r>
          </a:p>
        </p:txBody>
      </p:sp>
      <p:sp>
        <p:nvSpPr>
          <p:cNvPr id="199" name="TextBox 198"/>
          <p:cNvSpPr txBox="1"/>
          <p:nvPr/>
        </p:nvSpPr>
        <p:spPr>
          <a:xfrm>
            <a:off x="3319272" y="2697480"/>
            <a:ext cx="2286000" cy="1417320"/>
          </a:xfrm>
          <a:prstGeom prst="rect">
            <a:avLst/>
          </a:prstGeom>
          <a:noFill/>
        </p:spPr>
        <p:txBody>
          <a:bodyPr wrap="square" lIns="27432" rIns="27432" tIns="27432" bIns="27432">
            <a:spAutoFit/>
          </a:bodyPr>
          <a:lstStyle/>
          <a:p>
            <a:pPr>
              <a:spcAft>
                <a:spcPts val="800"/>
              </a:spcAft>
              <a:defRPr sz="1400" b="0">
                <a:solidFill>
                  <a:srgbClr val="333333"/>
                </a:solidFill>
                <a:latin typeface="Arial"/>
              </a:defRPr>
            </a:pPr>
            <a:r>
              <a:t>Run NeMo input/output rails.</a:t>
            </a:r>
          </a:p>
          <a:p>
            <a:pPr>
              <a:spcAft>
                <a:spcPts val="800"/>
              </a:spcAft>
              <a:defRPr sz="1400" b="0">
                <a:solidFill>
                  <a:srgbClr val="333333"/>
                </a:solidFill>
                <a:latin typeface="Arial"/>
              </a:defRPr>
            </a:pPr>
            <a:r>
              <a:t>Check advice, figures,</a:t>
            </a:r>
          </a:p>
          <a:p>
            <a:pPr>
              <a:spcAft>
                <a:spcPts val="800"/>
              </a:spcAft>
              <a:defRPr sz="1400" b="0">
                <a:solidFill>
                  <a:srgbClr val="333333"/>
                </a:solidFill>
                <a:latin typeface="Arial"/>
              </a:defRPr>
            </a:pPr>
            <a:r>
              <a:t>fairness and disclosures.</a:t>
            </a:r>
          </a:p>
        </p:txBody>
      </p:sp>
      <p:sp>
        <p:nvSpPr>
          <p:cNvPr id="200" name="TextBox 199"/>
          <p:cNvSpPr txBox="1"/>
          <p:nvPr/>
        </p:nvSpPr>
        <p:spPr>
          <a:xfrm>
            <a:off x="5888736" y="1920240"/>
            <a:ext cx="2286000" cy="594360"/>
          </a:xfrm>
          <a:prstGeom prst="rect">
            <a:avLst/>
          </a:prstGeom>
          <a:noFill/>
        </p:spPr>
        <p:txBody>
          <a:bodyPr wrap="square" lIns="27432" rIns="27432" tIns="27432" bIns="27432">
            <a:spAutoFit/>
          </a:bodyPr>
          <a:lstStyle/>
          <a:p>
            <a:pPr>
              <a:spcAft>
                <a:spcPts val="800"/>
              </a:spcAft>
              <a:defRPr sz="2100" b="0">
                <a:solidFill>
                  <a:srgbClr val="333333"/>
                </a:solidFill>
                <a:latin typeface="Playfair Display"/>
              </a:defRPr>
            </a:pPr>
            <a:r>
              <a:t>03  Explain</a:t>
            </a:r>
          </a:p>
        </p:txBody>
      </p:sp>
      <p:sp>
        <p:nvSpPr>
          <p:cNvPr id="201" name="TextBox 200"/>
          <p:cNvSpPr txBox="1"/>
          <p:nvPr/>
        </p:nvSpPr>
        <p:spPr>
          <a:xfrm>
            <a:off x="5888736" y="2697480"/>
            <a:ext cx="2286000" cy="1417320"/>
          </a:xfrm>
          <a:prstGeom prst="rect">
            <a:avLst/>
          </a:prstGeom>
          <a:noFill/>
        </p:spPr>
        <p:txBody>
          <a:bodyPr wrap="square" lIns="27432" rIns="27432" tIns="27432" bIns="27432">
            <a:spAutoFit/>
          </a:bodyPr>
          <a:lstStyle/>
          <a:p>
            <a:pPr>
              <a:spcAft>
                <a:spcPts val="800"/>
              </a:spcAft>
              <a:defRPr sz="1400" b="0">
                <a:solidFill>
                  <a:srgbClr val="333333"/>
                </a:solidFill>
                <a:latin typeface="Arial"/>
              </a:defRPr>
            </a:pPr>
            <a:r>
              <a:t>Return the safer response.</a:t>
            </a:r>
          </a:p>
          <a:p>
            <a:pPr>
              <a:spcAft>
                <a:spcPts val="800"/>
              </a:spcAft>
              <a:defRPr sz="1400" b="0">
                <a:solidFill>
                  <a:srgbClr val="333333"/>
                </a:solidFill>
                <a:latin typeface="Arial"/>
              </a:defRPr>
            </a:pPr>
            <a:r>
              <a:t>Show which checks ran.</a:t>
            </a:r>
          </a:p>
          <a:p>
            <a:pPr>
              <a:spcAft>
                <a:spcPts val="800"/>
              </a:spcAft>
              <a:defRPr sz="1400" b="0">
                <a:solidFill>
                  <a:srgbClr val="333333"/>
                </a:solidFill>
                <a:latin typeface="Arial"/>
              </a:defRPr>
            </a:pPr>
            <a:r>
              <a:t>Record policy and audit evidence.</a:t>
            </a:r>
          </a:p>
        </p:txBody>
      </p:sp>
      <p:sp>
        <p:nvSpPr>
          <p:cNvPr id="202" name="TextBox 201"/>
          <p:cNvSpPr txBox="1"/>
          <p:nvPr/>
        </p:nvSpPr>
        <p:spPr>
          <a:xfrm>
            <a:off x="749808" y="4498848"/>
            <a:ext cx="7452360" cy="384048"/>
          </a:xfrm>
          <a:prstGeom prst="rect">
            <a:avLst/>
          </a:prstGeom>
          <a:noFill/>
        </p:spPr>
        <p:txBody>
          <a:bodyPr wrap="square" lIns="27432" rIns="27432" tIns="27432" bIns="27432">
            <a:spAutoFit/>
          </a:bodyPr>
          <a:lstStyle/>
          <a:p>
            <a:pPr>
              <a:spcAft>
                <a:spcPts val="800"/>
              </a:spcAft>
              <a:defRPr sz="900" b="0">
                <a:solidFill>
                  <a:srgbClr val="66615D"/>
                </a:solidFill>
                <a:latin typeface="Arial"/>
              </a:defRPr>
            </a:pPr>
            <a:r>
              <a:t>Editable policy packs map rules to regulatory concepts. All mappings are illustrative, not legal advice.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TextBox 205"/>
          <p:cNvSpPr txBox="1"/>
          <p:nvPr/>
        </p:nvSpPr>
        <p:spPr>
          <a:xfrm>
            <a:off x="749808" y="512064"/>
            <a:ext cx="7452360" cy="731520"/>
          </a:xfrm>
          <a:prstGeom prst="rect">
            <a:avLst/>
          </a:prstGeom>
          <a:noFill/>
        </p:spPr>
        <p:txBody>
          <a:bodyPr wrap="square" lIns="27432" rIns="27432" tIns="27432" bIns="27432">
            <a:spAutoFit/>
          </a:bodyPr>
          <a:lstStyle/>
          <a:p>
            <a:pPr>
              <a:spcAft>
                <a:spcPts val="800"/>
              </a:spcAft>
              <a:defRPr sz="2600" b="0">
                <a:solidFill>
                  <a:srgbClr val="333333"/>
                </a:solidFill>
                <a:latin typeface="Playfair Display"/>
              </a:defRPr>
            </a:pPr>
            <a:r>
              <a:t>Our software stack</a:t>
            </a:r>
          </a:p>
        </p:txBody>
      </p:sp>
      <p:sp>
        <p:nvSpPr>
          <p:cNvPr id="207" name="TextBox 206"/>
          <p:cNvSpPr txBox="1"/>
          <p:nvPr/>
        </p:nvSpPr>
        <p:spPr>
          <a:xfrm>
            <a:off x="749808" y="1737360"/>
            <a:ext cx="2286000" cy="594360"/>
          </a:xfrm>
          <a:prstGeom prst="rect">
            <a:avLst/>
          </a:prstGeom>
          <a:noFill/>
        </p:spPr>
        <p:txBody>
          <a:bodyPr wrap="square" lIns="27432" rIns="27432" tIns="27432" bIns="27432">
            <a:spAutoFit/>
          </a:bodyPr>
          <a:lstStyle/>
          <a:p>
            <a:pPr>
              <a:spcAft>
                <a:spcPts val="800"/>
              </a:spcAft>
              <a:defRPr sz="2100" b="0">
                <a:solidFill>
                  <a:srgbClr val="333333"/>
                </a:solidFill>
                <a:latin typeface="Playfair Display"/>
              </a:defRPr>
            </a:pPr>
            <a:r>
              <a:t>The engine</a:t>
            </a:r>
          </a:p>
        </p:txBody>
      </p:sp>
      <p:sp>
        <p:nvSpPr>
          <p:cNvPr id="208" name="TextBox 207"/>
          <p:cNvSpPr txBox="1"/>
          <p:nvPr/>
        </p:nvSpPr>
        <p:spPr>
          <a:xfrm>
            <a:off x="749808" y="2542032"/>
            <a:ext cx="2286000" cy="1417320"/>
          </a:xfrm>
          <a:prstGeom prst="rect">
            <a:avLst/>
          </a:prstGeom>
          <a:noFill/>
        </p:spPr>
        <p:txBody>
          <a:bodyPr wrap="square" lIns="27432" rIns="27432" tIns="27432" bIns="27432">
            <a:spAutoFit/>
          </a:bodyPr>
          <a:lstStyle/>
          <a:p>
            <a:pPr>
              <a:spcAft>
                <a:spcPts val="800"/>
              </a:spcAft>
              <a:defRPr sz="1400" b="0">
                <a:solidFill>
                  <a:srgbClr val="333333"/>
                </a:solidFill>
                <a:latin typeface="Arial"/>
              </a:defRPr>
            </a:pPr>
            <a:r>
              <a:t>NVIDIA NeMo Guardrails</a:t>
            </a:r>
          </a:p>
          <a:p>
            <a:pPr>
              <a:spcAft>
                <a:spcPts val="800"/>
              </a:spcAft>
              <a:defRPr sz="1400" b="0">
                <a:solidFill>
                  <a:srgbClr val="333333"/>
                </a:solidFill>
                <a:latin typeface="Arial"/>
              </a:defRPr>
            </a:pPr>
            <a:r>
              <a:t>0.12.0 · Colang 1.0</a:t>
            </a:r>
          </a:p>
          <a:p>
            <a:pPr>
              <a:spcAft>
                <a:spcPts val="800"/>
              </a:spcAft>
              <a:defRPr sz="1400" b="0">
                <a:solidFill>
                  <a:srgbClr val="333333"/>
                </a:solidFill>
                <a:latin typeface="Arial"/>
              </a:defRPr>
            </a:pPr>
            <a:r>
              <a:t>Custom Python actions</a:t>
            </a:r>
          </a:p>
        </p:txBody>
      </p:sp>
      <p:sp>
        <p:nvSpPr>
          <p:cNvPr id="209" name="TextBox 208"/>
          <p:cNvSpPr txBox="1"/>
          <p:nvPr/>
        </p:nvSpPr>
        <p:spPr>
          <a:xfrm>
            <a:off x="3319272" y="1737360"/>
            <a:ext cx="2286000" cy="594360"/>
          </a:xfrm>
          <a:prstGeom prst="rect">
            <a:avLst/>
          </a:prstGeom>
          <a:noFill/>
        </p:spPr>
        <p:txBody>
          <a:bodyPr wrap="square" lIns="27432" rIns="27432" tIns="27432" bIns="27432">
            <a:spAutoFit/>
          </a:bodyPr>
          <a:lstStyle/>
          <a:p>
            <a:pPr>
              <a:spcAft>
                <a:spcPts val="800"/>
              </a:spcAft>
              <a:defRPr sz="2100" b="0">
                <a:solidFill>
                  <a:srgbClr val="333333"/>
                </a:solidFill>
                <a:latin typeface="Playfair Display"/>
              </a:defRPr>
            </a:pPr>
            <a:r>
              <a:t>The application</a:t>
            </a:r>
          </a:p>
        </p:txBody>
      </p:sp>
      <p:sp>
        <p:nvSpPr>
          <p:cNvPr id="210" name="TextBox 209"/>
          <p:cNvSpPr txBox="1"/>
          <p:nvPr/>
        </p:nvSpPr>
        <p:spPr>
          <a:xfrm>
            <a:off x="3319272" y="2542032"/>
            <a:ext cx="2286000" cy="1417320"/>
          </a:xfrm>
          <a:prstGeom prst="rect">
            <a:avLst/>
          </a:prstGeom>
          <a:noFill/>
        </p:spPr>
        <p:txBody>
          <a:bodyPr wrap="square" lIns="27432" rIns="27432" tIns="27432" bIns="27432">
            <a:spAutoFit/>
          </a:bodyPr>
          <a:lstStyle/>
          <a:p>
            <a:pPr>
              <a:spcAft>
                <a:spcPts val="800"/>
              </a:spcAft>
              <a:defRPr sz="1400" b="0">
                <a:solidFill>
                  <a:srgbClr val="333333"/>
                </a:solidFill>
                <a:latin typeface="Arial"/>
              </a:defRPr>
            </a:pPr>
            <a:r>
              <a:t>FastAPI + SQLite</a:t>
            </a:r>
          </a:p>
          <a:p>
            <a:pPr>
              <a:spcAft>
                <a:spcPts val="800"/>
              </a:spcAft>
              <a:defRPr sz="1400" b="0">
                <a:solidFill>
                  <a:srgbClr val="333333"/>
                </a:solidFill>
                <a:latin typeface="Arial"/>
              </a:defRPr>
            </a:pPr>
            <a:r>
              <a:t>React + TypeScript</a:t>
            </a:r>
          </a:p>
          <a:p>
            <a:pPr>
              <a:spcAft>
                <a:spcPts val="800"/>
              </a:spcAft>
              <a:defRPr sz="1400" b="0">
                <a:solidFill>
                  <a:srgbClr val="333333"/>
                </a:solidFill>
                <a:latin typeface="Arial"/>
              </a:defRPr>
            </a:pPr>
            <a:r>
              <a:t>Versioned policies and audit log</a:t>
            </a:r>
          </a:p>
        </p:txBody>
      </p:sp>
      <p:sp>
        <p:nvSpPr>
          <p:cNvPr id="211" name="TextBox 210"/>
          <p:cNvSpPr txBox="1"/>
          <p:nvPr/>
        </p:nvSpPr>
        <p:spPr>
          <a:xfrm>
            <a:off x="5888736" y="1737360"/>
            <a:ext cx="2286000" cy="594360"/>
          </a:xfrm>
          <a:prstGeom prst="rect">
            <a:avLst/>
          </a:prstGeom>
          <a:noFill/>
        </p:spPr>
        <p:txBody>
          <a:bodyPr wrap="square" lIns="27432" rIns="27432" tIns="27432" bIns="27432">
            <a:spAutoFit/>
          </a:bodyPr>
          <a:lstStyle/>
          <a:p>
            <a:pPr>
              <a:spcAft>
                <a:spcPts val="800"/>
              </a:spcAft>
              <a:defRPr sz="2100" b="0">
                <a:solidFill>
                  <a:srgbClr val="333333"/>
                </a:solidFill>
                <a:latin typeface="Playfair Display"/>
              </a:defRPr>
            </a:pPr>
            <a:r>
              <a:t>The model layer</a:t>
            </a:r>
          </a:p>
        </p:txBody>
      </p:sp>
      <p:sp>
        <p:nvSpPr>
          <p:cNvPr id="212" name="TextBox 211"/>
          <p:cNvSpPr txBox="1"/>
          <p:nvPr/>
        </p:nvSpPr>
        <p:spPr>
          <a:xfrm>
            <a:off x="5888736" y="2542032"/>
            <a:ext cx="2286000" cy="1417320"/>
          </a:xfrm>
          <a:prstGeom prst="rect">
            <a:avLst/>
          </a:prstGeom>
          <a:noFill/>
        </p:spPr>
        <p:txBody>
          <a:bodyPr wrap="square" lIns="27432" rIns="27432" tIns="27432" bIns="27432">
            <a:spAutoFit/>
          </a:bodyPr>
          <a:lstStyle/>
          <a:p>
            <a:pPr>
              <a:spcAft>
                <a:spcPts val="800"/>
              </a:spcAft>
              <a:defRPr sz="1400" b="0">
                <a:solidFill>
                  <a:srgbClr val="333333"/>
                </a:solidFill>
                <a:latin typeface="Arial"/>
              </a:defRPr>
            </a:pPr>
            <a:r>
              <a:t>Deterministic mock mode</a:t>
            </a:r>
          </a:p>
          <a:p>
            <a:pPr>
              <a:spcAft>
                <a:spcPts val="800"/>
              </a:spcAft>
              <a:defRPr sz="1400" b="0">
                <a:solidFill>
                  <a:srgbClr val="333333"/>
                </a:solidFill>
                <a:latin typeface="Arial"/>
              </a:defRPr>
            </a:pPr>
            <a:r>
              <a:t>OpenAI-compatible / Anthropic</a:t>
            </a:r>
          </a:p>
          <a:p>
            <a:pPr>
              <a:spcAft>
                <a:spcPts val="800"/>
              </a:spcAft>
              <a:defRPr sz="1400" b="0">
                <a:solidFill>
                  <a:srgbClr val="333333"/>
                </a:solidFill>
                <a:latin typeface="Arial"/>
              </a:defRPr>
            </a:pPr>
            <a:r>
              <a:t>Server-side provider settings</a:t>
            </a:r>
          </a:p>
        </p:txBody>
      </p:sp>
      <p:sp>
        <p:nvSpPr>
          <p:cNvPr id="213" name="TextBox 212"/>
          <p:cNvSpPr txBox="1"/>
          <p:nvPr/>
        </p:nvSpPr>
        <p:spPr>
          <a:xfrm>
            <a:off x="749808" y="3977639"/>
            <a:ext cx="7315200" cy="457200"/>
          </a:xfrm>
          <a:prstGeom prst="rect">
            <a:avLst/>
          </a:prstGeom>
          <a:noFill/>
        </p:spPr>
        <p:txBody>
          <a:bodyPr wrap="square" lIns="27432" rIns="27432" tIns="27432" bIns="27432">
            <a:spAutoFit/>
          </a:bodyPr>
          <a:lstStyle/>
          <a:p>
            <a:pPr>
              <a:spcAft>
                <a:spcPts val="800"/>
              </a:spcAft>
              <a:defRPr sz="1300" b="0">
                <a:solidFill>
                  <a:srgbClr val="333333"/>
                </a:solidFill>
                <a:latin typeface="Arial"/>
              </a:defRPr>
            </a:pPr>
            <a:r>
              <a:t>Our contribution: finance policies, checks, evidence, evaluation and the demo.</a:t>
            </a:r>
          </a:p>
        </p:txBody>
      </p:sp>
      <p:sp>
        <p:nvSpPr>
          <p:cNvPr id="214" name="TextBox 213"/>
          <p:cNvSpPr txBox="1"/>
          <p:nvPr/>
        </p:nvSpPr>
        <p:spPr>
          <a:xfrm>
            <a:off x="749808" y="4498848"/>
            <a:ext cx="7452360" cy="384048"/>
          </a:xfrm>
          <a:prstGeom prst="rect">
            <a:avLst/>
          </a:prstGeom>
          <a:noFill/>
        </p:spPr>
        <p:txBody>
          <a:bodyPr wrap="square" lIns="27432" rIns="27432" tIns="27432" bIns="27432">
            <a:spAutoFit/>
          </a:bodyPr>
          <a:lstStyle/>
          <a:p>
            <a:pPr>
              <a:spcAft>
                <a:spcPts val="800"/>
              </a:spcAft>
              <a:defRPr sz="900" b="0">
                <a:solidFill>
                  <a:srgbClr val="66615D"/>
                </a:solidFill>
                <a:latin typeface="Arial"/>
              </a:defRPr>
            </a:pPr>
            <a:r>
              <a:t>NeMo is open source (Apache-2.0). Live provider integrations are implemented but remain unverified.</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TextBox 216"/>
          <p:cNvSpPr txBox="1"/>
          <p:nvPr/>
        </p:nvSpPr>
        <p:spPr>
          <a:xfrm>
            <a:off x="749808" y="512064"/>
            <a:ext cx="7452360" cy="731520"/>
          </a:xfrm>
          <a:prstGeom prst="rect">
            <a:avLst/>
          </a:prstGeom>
          <a:noFill/>
        </p:spPr>
        <p:txBody>
          <a:bodyPr wrap="square" lIns="27432" rIns="27432" tIns="27432" bIns="27432">
            <a:spAutoFit/>
          </a:bodyPr>
          <a:lstStyle/>
          <a:p>
            <a:pPr>
              <a:spcAft>
                <a:spcPts val="800"/>
              </a:spcAft>
              <a:defRPr sz="2600" b="0">
                <a:solidFill>
                  <a:srgbClr val="333333"/>
                </a:solidFill>
                <a:latin typeface="Playfair Display"/>
              </a:defRPr>
            </a:pPr>
            <a:r>
              <a:t>Same question. Different boundaries.</a:t>
            </a:r>
          </a:p>
        </p:txBody>
      </p:sp>
      <p:sp>
        <p:nvSpPr>
          <p:cNvPr id="218" name="TextBox 217"/>
          <p:cNvSpPr txBox="1"/>
          <p:nvPr/>
        </p:nvSpPr>
        <p:spPr>
          <a:xfrm>
            <a:off x="749808" y="1261872"/>
            <a:ext cx="7315200" cy="502920"/>
          </a:xfrm>
          <a:prstGeom prst="rect">
            <a:avLst/>
          </a:prstGeom>
          <a:noFill/>
        </p:spPr>
        <p:txBody>
          <a:bodyPr wrap="square" lIns="27432" rIns="27432" tIns="27432" bIns="27432">
            <a:spAutoFit/>
          </a:bodyPr>
          <a:lstStyle/>
          <a:p>
            <a:pPr>
              <a:spcAft>
                <a:spcPts val="800"/>
              </a:spcAft>
              <a:defRPr sz="2000" b="0">
                <a:solidFill>
                  <a:srgbClr val="333333"/>
                </a:solidFill>
                <a:latin typeface="Playfair Display"/>
              </a:defRPr>
            </a:pPr>
            <a:r>
              <a:t>“Should I put my savings into Tesla stock?”</a:t>
            </a:r>
          </a:p>
        </p:txBody>
      </p:sp>
      <p:sp>
        <p:nvSpPr>
          <p:cNvPr id="219" name="TextBox 218"/>
          <p:cNvSpPr txBox="1"/>
          <p:nvPr/>
        </p:nvSpPr>
        <p:spPr>
          <a:xfrm>
            <a:off x="749808" y="2057400"/>
            <a:ext cx="3383280" cy="457200"/>
          </a:xfrm>
          <a:prstGeom prst="rect">
            <a:avLst/>
          </a:prstGeom>
          <a:noFill/>
        </p:spPr>
        <p:txBody>
          <a:bodyPr wrap="square" lIns="27432" rIns="27432" tIns="27432" bIns="27432">
            <a:spAutoFit/>
          </a:bodyPr>
          <a:lstStyle/>
          <a:p>
            <a:pPr>
              <a:spcAft>
                <a:spcPts val="800"/>
              </a:spcAft>
              <a:defRPr sz="1200" b="1">
                <a:solidFill>
                  <a:srgbClr val="333333"/>
                </a:solidFill>
                <a:latin typeface="Arial"/>
              </a:defRPr>
            </a:pPr>
            <a:r>
              <a:t>WITHOUT GUARDRAILS</a:t>
            </a:r>
          </a:p>
        </p:txBody>
      </p:sp>
      <p:sp>
        <p:nvSpPr>
          <p:cNvPr id="220" name="TextBox 219"/>
          <p:cNvSpPr txBox="1"/>
          <p:nvPr/>
        </p:nvSpPr>
        <p:spPr>
          <a:xfrm>
            <a:off x="749808" y="2679192"/>
            <a:ext cx="3337560" cy="1234440"/>
          </a:xfrm>
          <a:prstGeom prst="rect">
            <a:avLst/>
          </a:prstGeom>
          <a:noFill/>
        </p:spPr>
        <p:txBody>
          <a:bodyPr wrap="square" lIns="27432" rIns="27432" tIns="27432" bIns="27432">
            <a:spAutoFit/>
          </a:bodyPr>
          <a:lstStyle/>
          <a:p>
            <a:pPr>
              <a:spcAft>
                <a:spcPts val="800"/>
              </a:spcAft>
              <a:defRPr sz="2000" b="0">
                <a:solidFill>
                  <a:srgbClr val="333333"/>
                </a:solidFill>
                <a:latin typeface="Playfair Display"/>
              </a:defRPr>
            </a:pPr>
            <a:r>
              <a:t>“You should buy Tesla and put your savings into it.”</a:t>
            </a:r>
          </a:p>
        </p:txBody>
      </p:sp>
      <p:sp>
        <p:nvSpPr>
          <p:cNvPr id="221" name="TextBox 220"/>
          <p:cNvSpPr txBox="1"/>
          <p:nvPr/>
        </p:nvSpPr>
        <p:spPr>
          <a:xfrm>
            <a:off x="4572000" y="2057400"/>
            <a:ext cx="3383280" cy="457200"/>
          </a:xfrm>
          <a:prstGeom prst="rect">
            <a:avLst/>
          </a:prstGeom>
          <a:noFill/>
        </p:spPr>
        <p:txBody>
          <a:bodyPr wrap="square" lIns="27432" rIns="27432" tIns="27432" bIns="27432">
            <a:spAutoFit/>
          </a:bodyPr>
          <a:lstStyle/>
          <a:p>
            <a:pPr>
              <a:spcAft>
                <a:spcPts val="800"/>
              </a:spcAft>
              <a:defRPr sz="1200" b="1">
                <a:solidFill>
                  <a:srgbClr val="333333"/>
                </a:solidFill>
                <a:latin typeface="Arial"/>
              </a:defRPr>
            </a:pPr>
            <a:r>
              <a:t>WITH GUARDRAILS</a:t>
            </a:r>
          </a:p>
        </p:txBody>
      </p:sp>
      <p:sp>
        <p:nvSpPr>
          <p:cNvPr id="222" name="TextBox 221"/>
          <p:cNvSpPr txBox="1"/>
          <p:nvPr/>
        </p:nvSpPr>
        <p:spPr>
          <a:xfrm>
            <a:off x="4572000" y="2679192"/>
            <a:ext cx="3383280" cy="1280160"/>
          </a:xfrm>
          <a:prstGeom prst="rect">
            <a:avLst/>
          </a:prstGeom>
          <a:noFill/>
        </p:spPr>
        <p:txBody>
          <a:bodyPr wrap="square" lIns="27432" rIns="27432" tIns="27432" bIns="27432">
            <a:spAutoFit/>
          </a:bodyPr>
          <a:lstStyle/>
          <a:p>
            <a:pPr>
              <a:spcAft>
                <a:spcPts val="800"/>
              </a:spcAft>
              <a:defRPr sz="1600" b="0">
                <a:solidFill>
                  <a:srgbClr val="333333"/>
                </a:solidFill>
                <a:latin typeface="Arial"/>
              </a:defRPr>
            </a:pPr>
            <a:r>
              <a:t>General information.</a:t>
            </a:r>
          </a:p>
          <a:p>
            <a:pPr>
              <a:spcAft>
                <a:spcPts val="800"/>
              </a:spcAft>
              <a:defRPr sz="1600" b="0">
                <a:solidFill>
                  <a:srgbClr val="333333"/>
                </a:solidFill>
                <a:latin typeface="Arial"/>
              </a:defRPr>
            </a:pPr>
            <a:r>
              <a:t>Referral to a regulated adviser.</a:t>
            </a:r>
          </a:p>
          <a:p>
            <a:pPr>
              <a:spcAft>
                <a:spcPts val="800"/>
              </a:spcAft>
              <a:defRPr sz="1600" b="0">
                <a:solidFill>
                  <a:srgbClr val="333333"/>
                </a:solidFill>
                <a:latin typeface="Arial"/>
              </a:defRPr>
            </a:pPr>
            <a:r>
              <a:t>Risk warning and audit evidence.</a:t>
            </a:r>
          </a:p>
        </p:txBody>
      </p:sp>
      <p:sp>
        <p:nvSpPr>
          <p:cNvPr id="223" name="TextBox 222"/>
          <p:cNvSpPr txBox="1"/>
          <p:nvPr/>
        </p:nvSpPr>
        <p:spPr>
          <a:xfrm>
            <a:off x="749808" y="4498848"/>
            <a:ext cx="7452360" cy="384048"/>
          </a:xfrm>
          <a:prstGeom prst="rect">
            <a:avLst/>
          </a:prstGeom>
          <a:noFill/>
        </p:spPr>
        <p:txBody>
          <a:bodyPr wrap="square" lIns="27432" rIns="27432" tIns="27432" bIns="27432">
            <a:spAutoFit/>
          </a:bodyPr>
          <a:lstStyle/>
          <a:p>
            <a:pPr>
              <a:spcAft>
                <a:spcPts val="800"/>
              </a:spcAft>
              <a:defRPr sz="900" b="0">
                <a:solidFill>
                  <a:srgbClr val="66615D"/>
                </a:solidFill>
                <a:latin typeface="Arial"/>
              </a:defRPr>
            </a:pPr>
            <a:r>
              <a:t>Recorded mock example · Try the before/after demo. Guardrails reduce risk; people remain accountable.</a:t>
            </a:r>
          </a:p>
        </p:txBody>
      </p:sp>
    </p:spTree>
  </p:cSld>
  <p:clrMapOvr>
    <a:masterClrMapping/>
  </p:clrMapOvr>
</p:sld>
</file>

<file path=ppt/theme/theme1.xml><?xml version="1.0" encoding="utf-8"?>
<a:theme xmlns:a="http://schemas.openxmlformats.org/drawingml/2006/main" xmlns:r="http://schemas.openxmlformats.org/officeDocument/2006/relationships" name="Formal and Professional Portfolio by Slidesgo">
  <a:themeElements>
    <a:clrScheme name="Simple Light">
      <a:dk1>
        <a:srgbClr val="333333"/>
      </a:dk1>
      <a:lt1>
        <a:srgbClr val="F7F4F1"/>
      </a:lt1>
      <a:dk2>
        <a:srgbClr val="444444"/>
      </a:dk2>
      <a:lt2>
        <a:srgbClr val="555555"/>
      </a:lt2>
      <a:accent1>
        <a:srgbClr val="666666"/>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